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2E5A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502920"/>
            <a:ext cx="108200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555F70"/>
                </a:solidFill>
                <a:latin typeface="Calibri"/>
              </a:rPr>
              <a:t>Министерство науки и высшего образования Российской Федерации</a:t>
            </a:r>
          </a:p>
          <a:p>
            <a:r>
              <a:rPr sz="1600" b="0" i="0">
                <a:solidFill>
                  <a:srgbClr val="555F70"/>
                </a:solidFill>
                <a:latin typeface="Calibri"/>
              </a:rPr>
              <a:t>Образовательная организация высшего образования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28800"/>
            <a:ext cx="10545775" cy="45720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r>
              <a:rPr sz="2000" b="1" i="0">
                <a:solidFill>
                  <a:srgbClr val="2E5AA0"/>
                </a:solidFill>
                <a:latin typeface="Calibri"/>
              </a:rPr>
              <a:t>КУРСОВАЯ РАБОТА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286000"/>
            <a:ext cx="10545775" cy="201168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r>
              <a:rPr sz="3000" b="1" i="0">
                <a:solidFill>
                  <a:srgbClr val="1F2D4E"/>
                </a:solidFill>
                <a:latin typeface="Calibri"/>
              </a:rPr>
              <a:t>Разработка программного модуля «Экономический календарь» для автоматизации сбора, хранения и визуализации макроэкономических событий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4617720"/>
            <a:ext cx="10545775" cy="1463040"/>
          </a:xfrm>
          <a:prstGeom prst="roundRect">
            <a:avLst>
              <a:gd name="adj" fmla="val 6000"/>
            </a:avLst>
          </a:prstGeom>
          <a:solidFill>
            <a:srgbClr val="F5F7FB"/>
          </a:solidFill>
          <a:ln w="9525">
            <a:solidFill>
              <a:srgbClr val="D0D6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4754880"/>
            <a:ext cx="10180015" cy="123444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>
              <a:lnSpc>
                <a:spcPct val="125000"/>
              </a:lnSpc>
            </a:pPr>
            <a:r>
              <a:rPr sz="1800" b="1" i="0">
                <a:solidFill>
                  <a:srgbClr val="222A35"/>
                </a:solidFill>
                <a:latin typeface="Calibri"/>
              </a:rPr>
              <a:t>Выполнил(а): </a:t>
            </a:r>
            <a:r>
              <a:rPr sz="1800" b="0" i="0">
                <a:solidFill>
                  <a:srgbClr val="222A35"/>
                </a:solidFill>
                <a:latin typeface="Calibri"/>
              </a:rPr>
              <a:t>студент(ка) группы ____, ____________________</a:t>
            </a:r>
          </a:p>
          <a:p>
            <a:pPr>
              <a:lnSpc>
                <a:spcPct val="125000"/>
              </a:lnSpc>
            </a:pPr>
            <a:r>
              <a:rPr sz="1800" b="1" i="0">
                <a:solidFill>
                  <a:srgbClr val="222A35"/>
                </a:solidFill>
                <a:latin typeface="Calibri"/>
              </a:rPr>
              <a:t>Научный руководитель: </a:t>
            </a:r>
            <a:r>
              <a:rPr sz="1800" b="0" i="0">
                <a:solidFill>
                  <a:srgbClr val="222A35"/>
                </a:solidFill>
                <a:latin typeface="Calibri"/>
              </a:rPr>
              <a:t>____________________</a:t>
            </a:r>
          </a:p>
          <a:p>
            <a:pPr>
              <a:lnSpc>
                <a:spcPct val="125000"/>
              </a:lnSpc>
            </a:pPr>
            <a:r>
              <a:rPr sz="1800" b="1" i="0">
                <a:solidFill>
                  <a:srgbClr val="222A35"/>
                </a:solidFill>
                <a:latin typeface="Calibri"/>
              </a:rPr>
              <a:t>Специальность / направление: </a:t>
            </a:r>
            <a:r>
              <a:rPr sz="1800" b="0" i="0">
                <a:solidFill>
                  <a:srgbClr val="222A35"/>
                </a:solidFill>
                <a:latin typeface="Calibri"/>
              </a:rPr>
              <a:t>____________________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6126480"/>
            <a:ext cx="1054577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 i="0">
                <a:solidFill>
                  <a:srgbClr val="555F70"/>
                </a:solidFill>
                <a:latin typeface="Calibri"/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1F2D4E"/>
                </a:solidFill>
                <a:latin typeface="Calibri"/>
              </a:rPr>
              <a:t>Актуальность и проблема исследования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143000"/>
            <a:ext cx="1280160" cy="28000"/>
          </a:xfrm>
          <a:prstGeom prst="rect">
            <a:avLst/>
          </a:prstGeom>
          <a:solidFill>
            <a:srgbClr val="2E5A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417320"/>
            <a:ext cx="11094415" cy="10058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0" i="0">
                <a:solidFill>
                  <a:srgbClr val="222A35"/>
                </a:solidFill>
                <a:latin typeface="Calibri"/>
              </a:rPr>
              <a:t>Макроэкономические события (решения по ставкам, ВВП, инфляция, занятость) напрямую влияют на финансовые рынки и требуют оперативного, структурированного доступа к данным.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514600"/>
            <a:ext cx="11094415" cy="3794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2000" b="1" i="0">
                <a:solidFill>
                  <a:srgbClr val="2E5AA0"/>
                </a:solidFill>
                <a:latin typeface="Calibri"/>
              </a:rPr>
              <a:t>•  </a:t>
            </a:r>
            <a:r>
              <a:rPr sz="2000" b="1" i="0">
                <a:solidFill>
                  <a:srgbClr val="222A35"/>
                </a:solidFill>
                <a:latin typeface="Calibri"/>
              </a:rPr>
              <a:t>Разрозненность источников</a:t>
            </a:r>
            <a:r>
              <a:rPr sz="2000" b="0" i="0">
                <a:solidFill>
                  <a:srgbClr val="222A35"/>
                </a:solidFill>
                <a:latin typeface="Calibri"/>
              </a:rPr>
              <a:t> — данные распределены между календарями, новостями и аналитическими сервисами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2000" b="1" i="0">
                <a:solidFill>
                  <a:srgbClr val="2E5AA0"/>
                </a:solidFill>
                <a:latin typeface="Calibri"/>
              </a:rPr>
              <a:t>•  </a:t>
            </a:r>
            <a:r>
              <a:rPr sz="2000" b="1" i="0">
                <a:solidFill>
                  <a:srgbClr val="222A35"/>
                </a:solidFill>
                <a:latin typeface="Calibri"/>
              </a:rPr>
              <a:t>Ручная обработка</a:t>
            </a:r>
            <a:r>
              <a:rPr sz="2000" b="0" i="0">
                <a:solidFill>
                  <a:srgbClr val="222A35"/>
                </a:solidFill>
                <a:latin typeface="Calibri"/>
              </a:rPr>
              <a:t> — ведение таблиц приводит к ошибкам и потере времени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2000" b="1" i="0">
                <a:solidFill>
                  <a:srgbClr val="2E5AA0"/>
                </a:solidFill>
                <a:latin typeface="Calibri"/>
              </a:rPr>
              <a:t>•  </a:t>
            </a:r>
            <a:r>
              <a:rPr sz="2000" b="1" i="0">
                <a:solidFill>
                  <a:srgbClr val="222A35"/>
                </a:solidFill>
                <a:latin typeface="Calibri"/>
              </a:rPr>
              <a:t>Низкая персонализация</a:t>
            </a:r>
            <a:r>
              <a:rPr sz="2000" b="0" i="0">
                <a:solidFill>
                  <a:srgbClr val="222A35"/>
                </a:solidFill>
                <a:latin typeface="Calibri"/>
              </a:rPr>
              <a:t> — общий поток без учёта стран, типов и важности событий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2000" b="1" i="0">
                <a:solidFill>
                  <a:srgbClr val="2E5AA0"/>
                </a:solidFill>
                <a:latin typeface="Calibri"/>
              </a:rPr>
              <a:t>•  </a:t>
            </a:r>
            <a:r>
              <a:rPr sz="2000" b="1" i="0">
                <a:solidFill>
                  <a:srgbClr val="222A35"/>
                </a:solidFill>
                <a:latin typeface="Calibri"/>
              </a:rPr>
              <a:t>Перегруженность аналогов</a:t>
            </a:r>
            <a:r>
              <a:rPr sz="2000" b="0" i="0">
                <a:solidFill>
                  <a:srgbClr val="222A35"/>
                </a:solidFill>
                <a:latin typeface="Calibri"/>
              </a:rPr>
              <a:t> — профессиональные платформы избыточны и дороги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11094415" cy="32004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r"/>
            <a:r>
              <a:rPr sz="1200" b="0" i="0">
                <a:solidFill>
                  <a:srgbClr val="555F70"/>
                </a:solidFill>
                <a:latin typeface="Calibri"/>
              </a:rPr>
              <a:t>2 / 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1F2D4E"/>
                </a:solidFill>
                <a:latin typeface="Calibri"/>
              </a:rPr>
              <a:t>Цель и задачи работы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143000"/>
            <a:ext cx="1280160" cy="28000"/>
          </a:xfrm>
          <a:prstGeom prst="rect">
            <a:avLst/>
          </a:prstGeom>
          <a:solidFill>
            <a:srgbClr val="2E5A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417320"/>
            <a:ext cx="11094415" cy="1051560"/>
          </a:xfrm>
          <a:prstGeom prst="roundRect">
            <a:avLst>
              <a:gd name="adj" fmla="val 6000"/>
            </a:avLst>
          </a:prstGeom>
          <a:solidFill>
            <a:srgbClr val="EEF3FB"/>
          </a:solidFill>
          <a:ln w="9525">
            <a:solidFill>
              <a:srgbClr val="D0D6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481328"/>
            <a:ext cx="10637215" cy="91440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r>
              <a:rPr sz="2200" b="1" i="0">
                <a:solidFill>
                  <a:srgbClr val="2E5AA0"/>
                </a:solidFill>
                <a:latin typeface="Calibri"/>
              </a:rPr>
              <a:t>Цель: </a:t>
            </a:r>
            <a:r>
              <a:rPr sz="2200" b="0" i="0">
                <a:solidFill>
                  <a:srgbClr val="222A35"/>
                </a:solidFill>
                <a:latin typeface="Calibri"/>
              </a:rPr>
              <a:t>создание программного модуля для автоматизации работы с экономическим календарём, обеспечивающего удобный доступ к структурированной информации о событиях и их параметрах.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606040"/>
            <a:ext cx="11094415" cy="4114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 i="0">
                <a:solidFill>
                  <a:srgbClr val="1F2D4E"/>
                </a:solidFill>
                <a:latin typeface="Calibri"/>
              </a:rPr>
              <a:t>Задачи: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063240"/>
            <a:ext cx="11094415" cy="3246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 i="0">
                <a:solidFill>
                  <a:srgbClr val="2E5AA0"/>
                </a:solidFill>
                <a:latin typeface="Calibri"/>
              </a:rPr>
              <a:t>•  </a:t>
            </a:r>
            <a:r>
              <a:rPr sz="1800" b="0" i="0">
                <a:solidFill>
                  <a:srgbClr val="222A35"/>
                </a:solidFill>
                <a:latin typeface="Calibri"/>
              </a:rPr>
              <a:t>исследовать предметную область и проблемы существующих подходов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 i="0">
                <a:solidFill>
                  <a:srgbClr val="2E5AA0"/>
                </a:solidFill>
                <a:latin typeface="Calibri"/>
              </a:rPr>
              <a:t>•  </a:t>
            </a:r>
            <a:r>
              <a:rPr sz="1800" b="0" i="0">
                <a:solidFill>
                  <a:srgbClr val="222A35"/>
                </a:solidFill>
                <a:latin typeface="Calibri"/>
              </a:rPr>
              <a:t>выполнить сравнительный анализ аналогов и обосновать подход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 i="0">
                <a:solidFill>
                  <a:srgbClr val="2E5AA0"/>
                </a:solidFill>
                <a:latin typeface="Calibri"/>
              </a:rPr>
              <a:t>•  </a:t>
            </a:r>
            <a:r>
              <a:rPr sz="1800" b="0" i="0">
                <a:solidFill>
                  <a:srgbClr val="222A35"/>
                </a:solidFill>
                <a:latin typeface="Calibri"/>
              </a:rPr>
              <a:t>построить модели системы: Use Case, IDEF0, DFD, функциональную схему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 i="0">
                <a:solidFill>
                  <a:srgbClr val="2E5AA0"/>
                </a:solidFill>
                <a:latin typeface="Calibri"/>
              </a:rPr>
              <a:t>•  </a:t>
            </a:r>
            <a:r>
              <a:rPr sz="1800" b="0" i="0">
                <a:solidFill>
                  <a:srgbClr val="222A35"/>
                </a:solidFill>
                <a:latin typeface="Calibri"/>
              </a:rPr>
              <a:t>сформировать функциональные и нефункциональные требования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 i="0">
                <a:solidFill>
                  <a:srgbClr val="2E5AA0"/>
                </a:solidFill>
                <a:latin typeface="Calibri"/>
              </a:rPr>
              <a:t>•  </a:t>
            </a:r>
            <a:r>
              <a:rPr sz="1800" b="0" i="0">
                <a:solidFill>
                  <a:srgbClr val="222A35"/>
                </a:solidFill>
                <a:latin typeface="Calibri"/>
              </a:rPr>
              <a:t>обосновать архитектуру и технологический стек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 i="0">
                <a:solidFill>
                  <a:srgbClr val="2E5AA0"/>
                </a:solidFill>
                <a:latin typeface="Calibri"/>
              </a:rPr>
              <a:t>•  </a:t>
            </a:r>
            <a:r>
              <a:rPr sz="1800" b="0" i="0">
                <a:solidFill>
                  <a:srgbClr val="222A35"/>
                </a:solidFill>
                <a:latin typeface="Calibri"/>
              </a:rPr>
              <a:t>реализовать серверную и клиентскую части веб-приложения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 i="0">
                <a:solidFill>
                  <a:srgbClr val="2E5AA0"/>
                </a:solidFill>
                <a:latin typeface="Calibri"/>
              </a:rPr>
              <a:t>•  </a:t>
            </a:r>
            <a:r>
              <a:rPr sz="1800" b="0" i="0">
                <a:solidFill>
                  <a:srgbClr val="222A35"/>
                </a:solidFill>
                <a:latin typeface="Calibri"/>
              </a:rPr>
              <a:t>выполнить тестирование и оценить соответствие требованиям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46520"/>
            <a:ext cx="11094415" cy="32004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r"/>
            <a:r>
              <a:rPr sz="1200" b="0" i="0">
                <a:solidFill>
                  <a:srgbClr val="555F70"/>
                </a:solidFill>
                <a:latin typeface="Calibri"/>
              </a:rPr>
              <a:t>3 / 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1F2D4E"/>
                </a:solidFill>
                <a:latin typeface="Calibri"/>
              </a:rPr>
              <a:t>Глава 1. Анализ предметной области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143000"/>
            <a:ext cx="1280160" cy="28000"/>
          </a:xfrm>
          <a:prstGeom prst="rect">
            <a:avLst/>
          </a:prstGeom>
          <a:solidFill>
            <a:srgbClr val="2E5A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417320"/>
            <a:ext cx="5364327" cy="1554480"/>
          </a:xfrm>
          <a:prstGeom prst="roundRect">
            <a:avLst>
              <a:gd name="adj" fmla="val 6000"/>
            </a:avLst>
          </a:prstGeom>
          <a:solidFill>
            <a:srgbClr val="F5F7FB"/>
          </a:solidFill>
          <a:ln w="9525">
            <a:solidFill>
              <a:srgbClr val="D0D6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554480"/>
            <a:ext cx="4998567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 i="0">
                <a:solidFill>
                  <a:srgbClr val="2E5AA0"/>
                </a:solidFill>
                <a:latin typeface="Calibri"/>
              </a:rPr>
              <a:t>Объект</a:t>
            </a:r>
          </a:p>
          <a:p>
            <a:pPr>
              <a:lnSpc>
                <a:spcPct val="120000"/>
              </a:lnSpc>
            </a:pPr>
            <a:r>
              <a:rPr sz="1700" b="0" i="0">
                <a:solidFill>
                  <a:srgbClr val="222A35"/>
                </a:solidFill>
                <a:latin typeface="Calibri"/>
              </a:rPr>
              <a:t>процесс управления и представления данных о макроэкономических событиях в информационных системах финансово-аналитического профиля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78727" y="1417320"/>
            <a:ext cx="5364327" cy="1554480"/>
          </a:xfrm>
          <a:prstGeom prst="roundRect">
            <a:avLst>
              <a:gd name="adj" fmla="val 6000"/>
            </a:avLst>
          </a:prstGeom>
          <a:solidFill>
            <a:srgbClr val="F5F7FB"/>
          </a:solidFill>
          <a:ln w="9525">
            <a:solidFill>
              <a:srgbClr val="D0D6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61607" y="1554480"/>
            <a:ext cx="4998567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 i="0">
                <a:solidFill>
                  <a:srgbClr val="2E5AA0"/>
                </a:solidFill>
                <a:latin typeface="Calibri"/>
              </a:rPr>
              <a:t>Предмет</a:t>
            </a:r>
          </a:p>
          <a:p>
            <a:pPr>
              <a:lnSpc>
                <a:spcPct val="120000"/>
              </a:lnSpc>
            </a:pPr>
            <a:r>
              <a:rPr sz="1700" b="0" i="0">
                <a:solidFill>
                  <a:srgbClr val="222A35"/>
                </a:solidFill>
                <a:latin typeface="Calibri"/>
              </a:rPr>
              <a:t>разработка веб-приложения для автоматизированного сбора, хранения, фильтрации и визуализации данных экономического календаря с поддержкой мультиязычного интерфейса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200400"/>
            <a:ext cx="11094415" cy="4114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 i="0">
                <a:solidFill>
                  <a:srgbClr val="1F2D4E"/>
                </a:solidFill>
                <a:latin typeface="Calibri"/>
              </a:rPr>
              <a:t>Ключевые проблемы текущих подходов: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657600"/>
            <a:ext cx="11094415" cy="2651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 i="0">
                <a:solidFill>
                  <a:srgbClr val="2E5AA0"/>
                </a:solidFill>
                <a:latin typeface="Calibri"/>
              </a:rPr>
              <a:t>•  </a:t>
            </a:r>
            <a:r>
              <a:rPr sz="1800" b="0" i="0">
                <a:solidFill>
                  <a:srgbClr val="222A35"/>
                </a:solidFill>
                <a:latin typeface="Calibri"/>
              </a:rPr>
              <a:t>разрозненность источников и необходимость работы в нескольких сервисах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 i="0">
                <a:solidFill>
                  <a:srgbClr val="2E5AA0"/>
                </a:solidFill>
                <a:latin typeface="Calibri"/>
              </a:rPr>
              <a:t>•  </a:t>
            </a:r>
            <a:r>
              <a:rPr sz="1800" b="0" i="0">
                <a:solidFill>
                  <a:srgbClr val="222A35"/>
                </a:solidFill>
                <a:latin typeface="Calibri"/>
              </a:rPr>
              <a:t>временные затраты и ошибки при ручной обработке данных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 i="0">
                <a:solidFill>
                  <a:srgbClr val="2E5AA0"/>
                </a:solidFill>
                <a:latin typeface="Calibri"/>
              </a:rPr>
              <a:t>•  </a:t>
            </a:r>
            <a:r>
              <a:rPr sz="1800" b="0" i="0">
                <a:solidFill>
                  <a:srgbClr val="222A35"/>
                </a:solidFill>
                <a:latin typeface="Calibri"/>
              </a:rPr>
              <a:t>недостаточная персонализация и слабая система уведомлений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 i="0">
                <a:solidFill>
                  <a:srgbClr val="2E5AA0"/>
                </a:solidFill>
                <a:latin typeface="Calibri"/>
              </a:rPr>
              <a:t>•  </a:t>
            </a:r>
            <a:r>
              <a:rPr sz="1800" b="0" i="0">
                <a:solidFill>
                  <a:srgbClr val="222A35"/>
                </a:solidFill>
                <a:latin typeface="Calibri"/>
              </a:rPr>
              <a:t>перегруженность универсальных платформ непрофильным функционалом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446520"/>
            <a:ext cx="11094415" cy="32004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r"/>
            <a:r>
              <a:rPr sz="1200" b="0" i="0">
                <a:solidFill>
                  <a:srgbClr val="555F70"/>
                </a:solidFill>
                <a:latin typeface="Calibri"/>
              </a:rPr>
              <a:t>4 / 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1F2D4E"/>
                </a:solidFill>
                <a:latin typeface="Calibri"/>
              </a:rPr>
              <a:t>Глава 1. Сравнение существующих решений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143000"/>
            <a:ext cx="1280160" cy="28000"/>
          </a:xfrm>
          <a:prstGeom prst="rect">
            <a:avLst/>
          </a:prstGeom>
          <a:solidFill>
            <a:srgbClr val="2E5A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417320"/>
          <a:ext cx="1106424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8880"/>
                <a:gridCol w="2926080"/>
                <a:gridCol w="2926080"/>
                <a:gridCol w="2743200"/>
              </a:tblGrid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Критерий</a:t>
                      </a:r>
                    </a:p>
                  </a:txBody>
                  <a:tcPr marL="73152" marR="73152" marT="36576" marB="36576">
                    <a:solidFill>
                      <a:srgbClr val="1F2D4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TradingView</a:t>
                      </a:r>
                    </a:p>
                  </a:txBody>
                  <a:tcPr marL="73152" marR="73152" marT="36576" marB="36576">
                    <a:solidFill>
                      <a:srgbClr val="1F2D4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Bloomberg Terminal</a:t>
                      </a:r>
                    </a:p>
                  </a:txBody>
                  <a:tcPr marL="73152" marR="73152" marT="36576" marB="36576">
                    <a:solidFill>
                      <a:srgbClr val="1F2D4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Investing.com</a:t>
                      </a:r>
                    </a:p>
                  </a:txBody>
                  <a:tcPr marL="73152" marR="73152" marT="36576" marB="36576">
                    <a:solidFill>
                      <a:srgbClr val="1F2D4E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22A35"/>
                          </a:solidFill>
                          <a:latin typeface="Calibri"/>
                        </a:rPr>
                        <a:t>Основной фокус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22A35"/>
                          </a:solidFill>
                          <a:latin typeface="Calibri"/>
                        </a:rPr>
                        <a:t>Технический анализ, графики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22A35"/>
                          </a:solidFill>
                          <a:latin typeface="Calibri"/>
                        </a:rPr>
                        <a:t>Полный спектр финансовых данных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22A35"/>
                          </a:solidFill>
                          <a:latin typeface="Calibri"/>
                        </a:rPr>
                        <a:t>Макроэкономические события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22A35"/>
                          </a:solidFill>
                          <a:latin typeface="Calibri"/>
                        </a:rPr>
                        <a:t>Экономический календарь</a:t>
                      </a:r>
                    </a:p>
                  </a:txBody>
                  <a:tcPr marL="73152" marR="73152" marT="36576" marB="36576"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22A35"/>
                          </a:solidFill>
                          <a:latin typeface="Calibri"/>
                        </a:rPr>
                        <a:t>Есть</a:t>
                      </a:r>
                    </a:p>
                  </a:txBody>
                  <a:tcPr marL="73152" marR="73152" marT="36576" marB="36576"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22A35"/>
                          </a:solidFill>
                          <a:latin typeface="Calibri"/>
                        </a:rPr>
                        <a:t>Есть</a:t>
                      </a:r>
                    </a:p>
                  </a:txBody>
                  <a:tcPr marL="73152" marR="73152" marT="36576" marB="36576"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22A35"/>
                          </a:solidFill>
                          <a:latin typeface="Calibri"/>
                        </a:rPr>
                        <a:t>Есть</a:t>
                      </a:r>
                    </a:p>
                  </a:txBody>
                  <a:tcPr marL="73152" marR="73152" marT="36576" marB="36576">
                    <a:solidFill>
                      <a:srgbClr val="F3F5F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22A35"/>
                          </a:solidFill>
                          <a:latin typeface="Calibri"/>
                        </a:rPr>
                        <a:t>Уведомления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22A35"/>
                          </a:solidFill>
                          <a:latin typeface="Calibri"/>
                        </a:rPr>
                        <a:t>Ограниченные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22A35"/>
                          </a:solidFill>
                          <a:latin typeface="Calibri"/>
                        </a:rPr>
                        <a:t>Расширенные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22A35"/>
                          </a:solidFill>
                          <a:latin typeface="Calibri"/>
                        </a:rPr>
                        <a:t>Push-уведомления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22A35"/>
                          </a:solidFill>
                          <a:latin typeface="Calibri"/>
                        </a:rPr>
                        <a:t>Персонализация</a:t>
                      </a:r>
                    </a:p>
                  </a:txBody>
                  <a:tcPr marL="73152" marR="73152" marT="36576" marB="36576"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22A35"/>
                          </a:solidFill>
                          <a:latin typeface="Calibri"/>
                        </a:rPr>
                        <a:t>Ограниченная</a:t>
                      </a:r>
                    </a:p>
                  </a:txBody>
                  <a:tcPr marL="73152" marR="73152" marT="36576" marB="36576"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22A35"/>
                          </a:solidFill>
                          <a:latin typeface="Calibri"/>
                        </a:rPr>
                        <a:t>Высокая (проф.)</a:t>
                      </a:r>
                    </a:p>
                  </a:txBody>
                  <a:tcPr marL="73152" marR="73152" marT="36576" marB="36576"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22A35"/>
                          </a:solidFill>
                          <a:latin typeface="Calibri"/>
                        </a:rPr>
                        <a:t>Средняя</a:t>
                      </a:r>
                    </a:p>
                  </a:txBody>
                  <a:tcPr marL="73152" marR="73152" marT="36576" marB="36576">
                    <a:solidFill>
                      <a:srgbClr val="F3F5F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22A35"/>
                          </a:solidFill>
                          <a:latin typeface="Calibri"/>
                        </a:rPr>
                        <a:t>Аналитика и прогнозы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22A35"/>
                          </a:solidFill>
                          <a:latin typeface="Calibri"/>
                        </a:rPr>
                        <a:t>Технический анализ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22A35"/>
                          </a:solidFill>
                          <a:latin typeface="Calibri"/>
                        </a:rPr>
                        <a:t>Глубокая фундаментальная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22A35"/>
                          </a:solidFill>
                          <a:latin typeface="Calibri"/>
                        </a:rPr>
                        <a:t>Базовая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22A35"/>
                          </a:solidFill>
                          <a:latin typeface="Calibri"/>
                        </a:rPr>
                        <a:t>Стоимость</a:t>
                      </a:r>
                    </a:p>
                  </a:txBody>
                  <a:tcPr marL="73152" marR="73152" marT="36576" marB="36576"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22A35"/>
                          </a:solidFill>
                          <a:latin typeface="Calibri"/>
                        </a:rPr>
                        <a:t>Бесплатно / подписка</a:t>
                      </a:r>
                    </a:p>
                  </a:txBody>
                  <a:tcPr marL="73152" marR="73152" marT="36576" marB="36576"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22A35"/>
                          </a:solidFill>
                          <a:latin typeface="Calibri"/>
                        </a:rPr>
                        <a:t>≈ $24 000 / год</a:t>
                      </a:r>
                    </a:p>
                  </a:txBody>
                  <a:tcPr marL="73152" marR="73152" marT="36576" marB="36576"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22A35"/>
                          </a:solidFill>
                          <a:latin typeface="Calibri"/>
                        </a:rPr>
                        <a:t>Бесплатно</a:t>
                      </a:r>
                    </a:p>
                  </a:txBody>
                  <a:tcPr marL="73152" marR="73152" marT="36576" marB="36576">
                    <a:solidFill>
                      <a:srgbClr val="F3F5F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22A35"/>
                          </a:solidFill>
                          <a:latin typeface="Calibri"/>
                        </a:rPr>
                        <a:t>Перегруженность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22A35"/>
                          </a:solidFill>
                          <a:latin typeface="Calibri"/>
                        </a:rPr>
                        <a:t>Высокая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22A35"/>
                          </a:solidFill>
                          <a:latin typeface="Calibri"/>
                        </a:rPr>
                        <a:t>Очень высокая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22A35"/>
                          </a:solidFill>
                          <a:latin typeface="Calibri"/>
                        </a:rPr>
                        <a:t>Средняя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5989320"/>
            <a:ext cx="11094415" cy="5486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 i="1">
                <a:solidFill>
                  <a:srgbClr val="555F70"/>
                </a:solidFill>
                <a:latin typeface="Calibri"/>
              </a:rPr>
              <a:t>Вывод: аналоги либо избыточно сложны и дороги, либо не специализированы под быстрый просмотр и фильтрацию событий — необходима собственная разработка.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11094415" cy="32004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r"/>
            <a:r>
              <a:rPr sz="1200" b="0" i="0">
                <a:solidFill>
                  <a:srgbClr val="555F70"/>
                </a:solidFill>
                <a:latin typeface="Calibri"/>
              </a:rPr>
              <a:t>5 / 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1F2D4E"/>
                </a:solidFill>
                <a:latin typeface="Calibri"/>
              </a:rPr>
              <a:t>Глава 2. Требования к системе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143000"/>
            <a:ext cx="1280160" cy="28000"/>
          </a:xfrm>
          <a:prstGeom prst="rect">
            <a:avLst/>
          </a:prstGeom>
          <a:solidFill>
            <a:srgbClr val="2E5A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417320"/>
            <a:ext cx="5364327" cy="4754880"/>
          </a:xfrm>
          <a:prstGeom prst="roundRect">
            <a:avLst>
              <a:gd name="adj" fmla="val 6000"/>
            </a:avLst>
          </a:prstGeom>
          <a:solidFill>
            <a:srgbClr val="F5F7FB"/>
          </a:solidFill>
          <a:ln w="9525">
            <a:solidFill>
              <a:srgbClr val="D0D6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554480"/>
            <a:ext cx="4907127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 i="0">
                <a:solidFill>
                  <a:srgbClr val="2E5AA0"/>
                </a:solidFill>
                <a:latin typeface="Calibri"/>
              </a:rPr>
              <a:t>Функциональные требования</a:t>
            </a:r>
          </a:p>
          <a:p>
            <a:pPr>
              <a:lnSpc>
                <a:spcPct val="120000"/>
              </a:lnSpc>
              <a:spcAft>
                <a:spcPts val="400"/>
              </a:spcAft>
            </a:pPr>
            <a:r>
              <a:rPr sz="1700" b="1" i="0">
                <a:solidFill>
                  <a:srgbClr val="2E5AA0"/>
                </a:solidFill>
                <a:latin typeface="Calibri"/>
              </a:rPr>
              <a:t>•  </a:t>
            </a:r>
            <a:r>
              <a:rPr sz="1700" b="0" i="0">
                <a:solidFill>
                  <a:srgbClr val="222A35"/>
                </a:solidFill>
                <a:latin typeface="Calibri"/>
              </a:rPr>
              <a:t>просмотр календаря событий в виде списка</a:t>
            </a:r>
          </a:p>
          <a:p>
            <a:pPr>
              <a:lnSpc>
                <a:spcPct val="120000"/>
              </a:lnSpc>
              <a:spcAft>
                <a:spcPts val="400"/>
              </a:spcAft>
            </a:pPr>
            <a:r>
              <a:rPr sz="1700" b="1" i="0">
                <a:solidFill>
                  <a:srgbClr val="2E5AA0"/>
                </a:solidFill>
                <a:latin typeface="Calibri"/>
              </a:rPr>
              <a:t>•  </a:t>
            </a:r>
            <a:r>
              <a:rPr sz="1700" b="0" i="0">
                <a:solidFill>
                  <a:srgbClr val="222A35"/>
                </a:solidFill>
                <a:latin typeface="Calibri"/>
              </a:rPr>
              <a:t>автоматическое обновление данных</a:t>
            </a:r>
          </a:p>
          <a:p>
            <a:pPr>
              <a:lnSpc>
                <a:spcPct val="120000"/>
              </a:lnSpc>
              <a:spcAft>
                <a:spcPts val="400"/>
              </a:spcAft>
            </a:pPr>
            <a:r>
              <a:rPr sz="1700" b="1" i="0">
                <a:solidFill>
                  <a:srgbClr val="2E5AA0"/>
                </a:solidFill>
                <a:latin typeface="Calibri"/>
              </a:rPr>
              <a:t>•  </a:t>
            </a:r>
            <a:r>
              <a:rPr sz="1700" b="0" i="0">
                <a:solidFill>
                  <a:srgbClr val="222A35"/>
                </a:solidFill>
                <a:latin typeface="Calibri"/>
              </a:rPr>
              <a:t>поиск по ключевым словам</a:t>
            </a:r>
          </a:p>
          <a:p>
            <a:pPr>
              <a:lnSpc>
                <a:spcPct val="120000"/>
              </a:lnSpc>
              <a:spcAft>
                <a:spcPts val="400"/>
              </a:spcAft>
            </a:pPr>
            <a:r>
              <a:rPr sz="1700" b="1" i="0">
                <a:solidFill>
                  <a:srgbClr val="2E5AA0"/>
                </a:solidFill>
                <a:latin typeface="Calibri"/>
              </a:rPr>
              <a:t>•  </a:t>
            </a:r>
            <a:r>
              <a:rPr sz="1700" b="0" i="0">
                <a:solidFill>
                  <a:srgbClr val="222A35"/>
                </a:solidFill>
                <a:latin typeface="Calibri"/>
              </a:rPr>
              <a:t>детальная карточка события</a:t>
            </a:r>
          </a:p>
          <a:p>
            <a:pPr>
              <a:lnSpc>
                <a:spcPct val="120000"/>
              </a:lnSpc>
              <a:spcAft>
                <a:spcPts val="400"/>
              </a:spcAft>
            </a:pPr>
            <a:r>
              <a:rPr sz="1700" b="1" i="0">
                <a:solidFill>
                  <a:srgbClr val="2E5AA0"/>
                </a:solidFill>
                <a:latin typeface="Calibri"/>
              </a:rPr>
              <a:t>•  </a:t>
            </a:r>
            <a:r>
              <a:rPr sz="1700" b="0" i="0">
                <a:solidFill>
                  <a:srgbClr val="222A35"/>
                </a:solidFill>
                <a:latin typeface="Calibri"/>
              </a:rPr>
              <a:t>фильтрация и сортировка (страна, важность, период)</a:t>
            </a:r>
          </a:p>
          <a:p>
            <a:pPr>
              <a:lnSpc>
                <a:spcPct val="120000"/>
              </a:lnSpc>
              <a:spcAft>
                <a:spcPts val="400"/>
              </a:spcAft>
            </a:pPr>
            <a:r>
              <a:rPr sz="1700" b="1" i="0">
                <a:solidFill>
                  <a:srgbClr val="2E5AA0"/>
                </a:solidFill>
                <a:latin typeface="Calibri"/>
              </a:rPr>
              <a:t>•  </a:t>
            </a:r>
            <a:r>
              <a:rPr sz="1700" b="0" i="0">
                <a:solidFill>
                  <a:srgbClr val="222A35"/>
                </a:solidFill>
                <a:latin typeface="Calibri"/>
              </a:rPr>
              <a:t>раздел «Новости» из внешних источников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78727" y="1417320"/>
            <a:ext cx="5364327" cy="4754880"/>
          </a:xfrm>
          <a:prstGeom prst="roundRect">
            <a:avLst>
              <a:gd name="adj" fmla="val 6000"/>
            </a:avLst>
          </a:prstGeom>
          <a:solidFill>
            <a:srgbClr val="F5F7FB"/>
          </a:solidFill>
          <a:ln w="9525">
            <a:solidFill>
              <a:srgbClr val="D0D6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07327" y="1554480"/>
            <a:ext cx="4907127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 i="0">
                <a:solidFill>
                  <a:srgbClr val="2E5AA0"/>
                </a:solidFill>
                <a:latin typeface="Calibri"/>
              </a:rPr>
              <a:t>Нефункциональные требования</a:t>
            </a:r>
          </a:p>
          <a:p>
            <a:pPr>
              <a:lnSpc>
                <a:spcPct val="120000"/>
              </a:lnSpc>
              <a:spcAft>
                <a:spcPts val="400"/>
              </a:spcAft>
            </a:pPr>
            <a:r>
              <a:rPr sz="1700" b="1" i="0">
                <a:solidFill>
                  <a:srgbClr val="2E5AA0"/>
                </a:solidFill>
                <a:latin typeface="Calibri"/>
              </a:rPr>
              <a:t>•  </a:t>
            </a:r>
            <a:r>
              <a:rPr sz="1700" b="0" i="0">
                <a:solidFill>
                  <a:srgbClr val="222A35"/>
                </a:solidFill>
                <a:latin typeface="Calibri"/>
              </a:rPr>
              <a:t>высокая отзывчивость интерфейса</a:t>
            </a:r>
          </a:p>
          <a:p>
            <a:pPr>
              <a:lnSpc>
                <a:spcPct val="120000"/>
              </a:lnSpc>
              <a:spcAft>
                <a:spcPts val="400"/>
              </a:spcAft>
            </a:pPr>
            <a:r>
              <a:rPr sz="1700" b="1" i="0">
                <a:solidFill>
                  <a:srgbClr val="2E5AA0"/>
                </a:solidFill>
                <a:latin typeface="Calibri"/>
              </a:rPr>
              <a:t>•  </a:t>
            </a:r>
            <a:r>
              <a:rPr sz="1700" b="0" i="0">
                <a:solidFill>
                  <a:srgbClr val="222A35"/>
                </a:solidFill>
                <a:latin typeface="Calibri"/>
              </a:rPr>
              <a:t>простая и предсказуемая навигация</a:t>
            </a:r>
          </a:p>
          <a:p>
            <a:pPr>
              <a:lnSpc>
                <a:spcPct val="120000"/>
              </a:lnSpc>
              <a:spcAft>
                <a:spcPts val="400"/>
              </a:spcAft>
            </a:pPr>
            <a:r>
              <a:rPr sz="1700" b="1" i="0">
                <a:solidFill>
                  <a:srgbClr val="2E5AA0"/>
                </a:solidFill>
                <a:latin typeface="Calibri"/>
              </a:rPr>
              <a:t>•  </a:t>
            </a:r>
            <a:r>
              <a:rPr sz="1700" b="0" i="0">
                <a:solidFill>
                  <a:srgbClr val="222A35"/>
                </a:solidFill>
                <a:latin typeface="Calibri"/>
              </a:rPr>
              <a:t>адаптивность под разные экраны</a:t>
            </a:r>
          </a:p>
          <a:p>
            <a:pPr>
              <a:lnSpc>
                <a:spcPct val="120000"/>
              </a:lnSpc>
              <a:spcAft>
                <a:spcPts val="400"/>
              </a:spcAft>
            </a:pPr>
            <a:r>
              <a:rPr sz="1700" b="1" i="0">
                <a:solidFill>
                  <a:srgbClr val="2E5AA0"/>
                </a:solidFill>
                <a:latin typeface="Calibri"/>
              </a:rPr>
              <a:t>•  </a:t>
            </a:r>
            <a:r>
              <a:rPr sz="1700" b="0" i="0">
                <a:solidFill>
                  <a:srgbClr val="222A35"/>
                </a:solidFill>
                <a:latin typeface="Calibri"/>
              </a:rPr>
              <a:t>поддержка мобильных устройств (Android 7.0+)</a:t>
            </a:r>
          </a:p>
          <a:p>
            <a:pPr>
              <a:lnSpc>
                <a:spcPct val="120000"/>
              </a:lnSpc>
              <a:spcAft>
                <a:spcPts val="400"/>
              </a:spcAft>
            </a:pPr>
            <a:r>
              <a:rPr sz="1700" b="1" i="0">
                <a:solidFill>
                  <a:srgbClr val="2E5AA0"/>
                </a:solidFill>
                <a:latin typeface="Calibri"/>
              </a:rPr>
              <a:t>•  </a:t>
            </a:r>
            <a:r>
              <a:rPr sz="1700" b="0" i="0">
                <a:solidFill>
                  <a:srgbClr val="222A35"/>
                </a:solidFill>
                <a:latin typeface="Calibri"/>
              </a:rPr>
              <a:t>устойчивость к сбоям сети за счёт кэширования</a:t>
            </a:r>
          </a:p>
          <a:p>
            <a:pPr>
              <a:lnSpc>
                <a:spcPct val="120000"/>
              </a:lnSpc>
              <a:spcAft>
                <a:spcPts val="400"/>
              </a:spcAft>
            </a:pPr>
            <a:r>
              <a:rPr sz="1700" b="1" i="0">
                <a:solidFill>
                  <a:srgbClr val="2E5AA0"/>
                </a:solidFill>
                <a:latin typeface="Calibri"/>
              </a:rPr>
              <a:t>•  </a:t>
            </a:r>
            <a:r>
              <a:rPr sz="1700" b="0" i="0">
                <a:solidFill>
                  <a:srgbClr val="222A35"/>
                </a:solidFill>
                <a:latin typeface="Calibri"/>
              </a:rPr>
              <a:t>мультиязычность интерфейса (RU/EN/ZH/ES)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46520"/>
            <a:ext cx="11094415" cy="32004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r"/>
            <a:r>
              <a:rPr sz="1200" b="0" i="0">
                <a:solidFill>
                  <a:srgbClr val="555F70"/>
                </a:solidFill>
                <a:latin typeface="Calibri"/>
              </a:rPr>
              <a:t>6 / 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1F2D4E"/>
                </a:solidFill>
                <a:latin typeface="Calibri"/>
              </a:rPr>
              <a:t>Глава 2. Архитектура и технологический стек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143000"/>
            <a:ext cx="1280160" cy="28000"/>
          </a:xfrm>
          <a:prstGeom prst="rect">
            <a:avLst/>
          </a:prstGeom>
          <a:solidFill>
            <a:srgbClr val="2E5A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554480"/>
            <a:ext cx="3454298" cy="1828800"/>
          </a:xfrm>
          <a:prstGeom prst="roundRect">
            <a:avLst>
              <a:gd name="adj" fmla="val 6000"/>
            </a:avLst>
          </a:prstGeom>
          <a:solidFill>
            <a:srgbClr val="EEF3FB"/>
          </a:solidFill>
          <a:ln w="9525">
            <a:solidFill>
              <a:srgbClr val="D0D6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691640"/>
            <a:ext cx="3088538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2E5AA0"/>
                </a:solidFill>
                <a:latin typeface="Calibri"/>
              </a:rPr>
              <a:t>Клиент</a:t>
            </a:r>
          </a:p>
          <a:p>
            <a:pPr algn="ctr">
              <a:lnSpc>
                <a:spcPct val="115000"/>
              </a:lnSpc>
            </a:pPr>
            <a:r>
              <a:rPr sz="1500" b="0" i="0">
                <a:solidFill>
                  <a:srgbClr val="222A35"/>
                </a:solidFill>
                <a:latin typeface="Calibri"/>
              </a:rPr>
              <a:t>React 18, Vite</a:t>
            </a:r>
          </a:p>
          <a:p>
            <a:pPr algn="ctr">
              <a:lnSpc>
                <a:spcPct val="115000"/>
              </a:lnSpc>
            </a:pPr>
            <a:r>
              <a:rPr sz="1500" b="0" i="0">
                <a:solidFill>
                  <a:srgbClr val="222A35"/>
                </a:solidFill>
                <a:latin typeface="Calibri"/>
              </a:rPr>
              <a:t>react-router-dom</a:t>
            </a:r>
          </a:p>
          <a:p>
            <a:pPr algn="ctr">
              <a:lnSpc>
                <a:spcPct val="115000"/>
              </a:lnSpc>
            </a:pPr>
            <a:r>
              <a:rPr sz="1500" b="0" i="0">
                <a:solidFill>
                  <a:srgbClr val="222A35"/>
                </a:solidFill>
                <a:latin typeface="Calibri"/>
              </a:rPr>
              <a:t>Локализация (i18n)</a:t>
            </a:r>
          </a:p>
          <a:p>
            <a:pPr algn="ctr">
              <a:lnSpc>
                <a:spcPct val="115000"/>
              </a:lnSpc>
            </a:pPr>
            <a:r>
              <a:rPr sz="1500" b="0" i="0">
                <a:solidFill>
                  <a:srgbClr val="222A35"/>
                </a:solidFill>
                <a:latin typeface="Calibri"/>
              </a:rPr>
              <a:t>Тема (light/dark)</a:t>
            </a:r>
          </a:p>
        </p:txBody>
      </p:sp>
      <p:sp>
        <p:nvSpPr>
          <p:cNvPr id="7" name="Right Arrow 6"/>
          <p:cNvSpPr/>
          <p:nvPr/>
        </p:nvSpPr>
        <p:spPr>
          <a:xfrm>
            <a:off x="4048658" y="2331720"/>
            <a:ext cx="274320" cy="274320"/>
          </a:xfrm>
          <a:prstGeom prst="rightArrow">
            <a:avLst/>
          </a:prstGeom>
          <a:solidFill>
            <a:srgbClr val="2E5A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368698" y="1554480"/>
            <a:ext cx="3454298" cy="1828800"/>
          </a:xfrm>
          <a:prstGeom prst="roundRect">
            <a:avLst>
              <a:gd name="adj" fmla="val 6000"/>
            </a:avLst>
          </a:prstGeom>
          <a:solidFill>
            <a:srgbClr val="EEF3FB"/>
          </a:solidFill>
          <a:ln w="9525">
            <a:solidFill>
              <a:srgbClr val="D0D6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51578" y="1691640"/>
            <a:ext cx="3088538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2E5AA0"/>
                </a:solidFill>
                <a:latin typeface="Calibri"/>
              </a:rPr>
              <a:t>Сервер</a:t>
            </a:r>
          </a:p>
          <a:p>
            <a:pPr algn="ctr">
              <a:lnSpc>
                <a:spcPct val="115000"/>
              </a:lnSpc>
            </a:pPr>
            <a:r>
              <a:rPr sz="1500" b="0" i="0">
                <a:solidFill>
                  <a:srgbClr val="222A35"/>
                </a:solidFill>
                <a:latin typeface="Calibri"/>
              </a:rPr>
              <a:t>FastAPI (Python)</a:t>
            </a:r>
          </a:p>
          <a:p>
            <a:pPr algn="ctr">
              <a:lnSpc>
                <a:spcPct val="115000"/>
              </a:lnSpc>
            </a:pPr>
            <a:r>
              <a:rPr sz="1500" b="0" i="0">
                <a:solidFill>
                  <a:srgbClr val="222A35"/>
                </a:solidFill>
                <a:latin typeface="Calibri"/>
              </a:rPr>
              <a:t>Pydantic, REST API</a:t>
            </a:r>
          </a:p>
          <a:p>
            <a:pPr algn="ctr">
              <a:lnSpc>
                <a:spcPct val="115000"/>
              </a:lnSpc>
            </a:pPr>
            <a:r>
              <a:rPr sz="1500" b="0" i="0">
                <a:solidFill>
                  <a:srgbClr val="222A35"/>
                </a:solidFill>
                <a:latin typeface="Calibri"/>
              </a:rPr>
              <a:t>httpx, Playwright</a:t>
            </a:r>
          </a:p>
          <a:p>
            <a:pPr algn="ctr">
              <a:lnSpc>
                <a:spcPct val="115000"/>
              </a:lnSpc>
            </a:pPr>
            <a:r>
              <a:rPr sz="1500" b="0" i="0">
                <a:solidFill>
                  <a:srgbClr val="222A35"/>
                </a:solidFill>
                <a:latin typeface="Calibri"/>
              </a:rPr>
              <a:t>Upsert-синхронизация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7868716" y="2331720"/>
            <a:ext cx="274320" cy="274320"/>
          </a:xfrm>
          <a:prstGeom prst="rightArrow">
            <a:avLst/>
          </a:prstGeom>
          <a:solidFill>
            <a:srgbClr val="2E5A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188756" y="1554480"/>
            <a:ext cx="3454298" cy="1828800"/>
          </a:xfrm>
          <a:prstGeom prst="roundRect">
            <a:avLst>
              <a:gd name="adj" fmla="val 6000"/>
            </a:avLst>
          </a:prstGeom>
          <a:solidFill>
            <a:srgbClr val="EEF3FB"/>
          </a:solidFill>
          <a:ln w="9525">
            <a:solidFill>
              <a:srgbClr val="D0D6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71636" y="1691640"/>
            <a:ext cx="3088538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2E5AA0"/>
                </a:solidFill>
                <a:latin typeface="Calibri"/>
              </a:rPr>
              <a:t>Данные</a:t>
            </a:r>
          </a:p>
          <a:p>
            <a:pPr algn="ctr">
              <a:lnSpc>
                <a:spcPct val="115000"/>
              </a:lnSpc>
            </a:pPr>
            <a:r>
              <a:rPr sz="1500" b="0" i="0">
                <a:solidFill>
                  <a:srgbClr val="222A35"/>
                </a:solidFill>
                <a:latin typeface="Calibri"/>
              </a:rPr>
              <a:t>SQLAlchemy 2.0</a:t>
            </a:r>
          </a:p>
          <a:p>
            <a:pPr algn="ctr">
              <a:lnSpc>
                <a:spcPct val="115000"/>
              </a:lnSpc>
            </a:pPr>
            <a:r>
              <a:rPr sz="1500" b="0" i="0">
                <a:solidFill>
                  <a:srgbClr val="222A35"/>
                </a:solidFill>
                <a:latin typeface="Calibri"/>
              </a:rPr>
              <a:t>SQLite</a:t>
            </a:r>
          </a:p>
          <a:p>
            <a:pPr algn="ctr">
              <a:lnSpc>
                <a:spcPct val="115000"/>
              </a:lnSpc>
            </a:pPr>
            <a:r>
              <a:rPr sz="1500" b="0" i="0">
                <a:solidFill>
                  <a:srgbClr val="222A35"/>
                </a:solidFill>
                <a:latin typeface="Calibri"/>
              </a:rPr>
              <a:t>Индексы и external_id</a:t>
            </a:r>
          </a:p>
          <a:p>
            <a:pPr algn="ctr">
              <a:lnSpc>
                <a:spcPct val="115000"/>
              </a:lnSpc>
            </a:pPr>
            <a:r>
              <a:rPr sz="1500" b="0" i="0">
                <a:solidFill>
                  <a:srgbClr val="222A35"/>
                </a:solidFill>
                <a:latin typeface="Calibri"/>
              </a:rPr>
              <a:t>Локальный кэш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703320"/>
            <a:ext cx="11094415" cy="3657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 i="0">
                <a:solidFill>
                  <a:srgbClr val="1F2D4E"/>
                </a:solidFill>
                <a:latin typeface="Calibri"/>
              </a:rPr>
              <a:t>Обоснование выбора стека: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114800"/>
            <a:ext cx="11094415" cy="2194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1" i="0">
                <a:solidFill>
                  <a:srgbClr val="2E5AA0"/>
                </a:solidFill>
                <a:latin typeface="Calibri"/>
              </a:rPr>
              <a:t>•  </a:t>
            </a:r>
            <a:r>
              <a:rPr sz="1600" b="1" i="0">
                <a:solidFill>
                  <a:srgbClr val="222A35"/>
                </a:solidFill>
                <a:latin typeface="Calibri"/>
              </a:rPr>
              <a:t>FastAPI</a:t>
            </a:r>
            <a:r>
              <a:rPr sz="1600" b="0" i="0">
                <a:solidFill>
                  <a:srgbClr val="222A35"/>
                </a:solidFill>
                <a:latin typeface="Calibri"/>
              </a:rPr>
              <a:t> — высокая производительность, async/await, валидация Pydantic, OpenAPI «из коробки»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1" i="0">
                <a:solidFill>
                  <a:srgbClr val="2E5AA0"/>
                </a:solidFill>
                <a:latin typeface="Calibri"/>
              </a:rPr>
              <a:t>•  </a:t>
            </a:r>
            <a:r>
              <a:rPr sz="1600" b="1" i="0">
                <a:solidFill>
                  <a:srgbClr val="222A35"/>
                </a:solidFill>
                <a:latin typeface="Calibri"/>
              </a:rPr>
              <a:t>SQLAlchemy 2.0 + SQLite</a:t>
            </a:r>
            <a:r>
              <a:rPr sz="1600" b="0" i="0">
                <a:solidFill>
                  <a:srgbClr val="222A35"/>
                </a:solidFill>
                <a:latin typeface="Calibri"/>
              </a:rPr>
              <a:t> — типизированная ORM, простота локального запуска, локальный кэш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1" i="0">
                <a:solidFill>
                  <a:srgbClr val="2E5AA0"/>
                </a:solidFill>
                <a:latin typeface="Calibri"/>
              </a:rPr>
              <a:t>•  </a:t>
            </a:r>
            <a:r>
              <a:rPr sz="1600" b="1" i="0">
                <a:solidFill>
                  <a:srgbClr val="222A35"/>
                </a:solidFill>
                <a:latin typeface="Calibri"/>
              </a:rPr>
              <a:t>React 18 + Vite</a:t>
            </a:r>
            <a:r>
              <a:rPr sz="1600" b="0" i="0">
                <a:solidFill>
                  <a:srgbClr val="222A35"/>
                </a:solidFill>
                <a:latin typeface="Calibri"/>
              </a:rPr>
              <a:t> — быстрая разработка SPA, удобная маршрутизация, мемоизация фильтров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1" i="0">
                <a:solidFill>
                  <a:srgbClr val="2E5AA0"/>
                </a:solidFill>
                <a:latin typeface="Calibri"/>
              </a:rPr>
              <a:t>•  </a:t>
            </a:r>
            <a:r>
              <a:rPr sz="1600" b="1" i="0">
                <a:solidFill>
                  <a:srgbClr val="222A35"/>
                </a:solidFill>
                <a:latin typeface="Calibri"/>
              </a:rPr>
              <a:t>httpx + Playwright</a:t>
            </a:r>
            <a:r>
              <a:rPr sz="1600" b="0" i="0">
                <a:solidFill>
                  <a:srgbClr val="222A35"/>
                </a:solidFill>
                <a:latin typeface="Calibri"/>
              </a:rPr>
              <a:t> — получение данных через JSON-API и fallback на HTML-таблицу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46520"/>
            <a:ext cx="11094415" cy="32004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r"/>
            <a:r>
              <a:rPr sz="1200" b="0" i="0">
                <a:solidFill>
                  <a:srgbClr val="555F70"/>
                </a:solidFill>
                <a:latin typeface="Calibri"/>
              </a:rPr>
              <a:t>7 / 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1F2D4E"/>
                </a:solidFill>
                <a:latin typeface="Calibri"/>
              </a:rPr>
              <a:t>Глава 3. Реализация системы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143000"/>
            <a:ext cx="1280160" cy="28000"/>
          </a:xfrm>
          <a:prstGeom prst="rect">
            <a:avLst/>
          </a:prstGeom>
          <a:solidFill>
            <a:srgbClr val="2E5A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417320"/>
            <a:ext cx="5669280" cy="4754880"/>
          </a:xfrm>
          <a:prstGeom prst="roundRect">
            <a:avLst>
              <a:gd name="adj" fmla="val 6000"/>
            </a:avLst>
          </a:prstGeom>
          <a:solidFill>
            <a:srgbClr val="F5F7FB"/>
          </a:solidFill>
          <a:ln w="9525">
            <a:solidFill>
              <a:srgbClr val="D0D6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554480"/>
            <a:ext cx="52120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 i="0">
                <a:solidFill>
                  <a:srgbClr val="2E5AA0"/>
                </a:solidFill>
                <a:latin typeface="Calibri"/>
              </a:rPr>
              <a:t>Этапы разработки</a:t>
            </a:r>
          </a:p>
          <a:p>
            <a:pPr>
              <a:lnSpc>
                <a:spcPct val="125000"/>
              </a:lnSpc>
              <a:spcAft>
                <a:spcPts val="400"/>
              </a:spcAft>
            </a:pPr>
            <a:r>
              <a:rPr sz="1700" b="1" i="0">
                <a:solidFill>
                  <a:srgbClr val="2E5AA0"/>
                </a:solidFill>
                <a:latin typeface="Calibri"/>
              </a:rPr>
              <a:t>1.  </a:t>
            </a:r>
            <a:r>
              <a:rPr sz="1700" b="0" i="0">
                <a:solidFill>
                  <a:srgbClr val="222A35"/>
                </a:solidFill>
                <a:latin typeface="Calibri"/>
              </a:rPr>
              <a:t>проектирование модели данных Event (источник, важность, метрики)</a:t>
            </a:r>
          </a:p>
          <a:p>
            <a:pPr>
              <a:lnSpc>
                <a:spcPct val="125000"/>
              </a:lnSpc>
              <a:spcAft>
                <a:spcPts val="400"/>
              </a:spcAft>
            </a:pPr>
            <a:r>
              <a:rPr sz="1700" b="1" i="0">
                <a:solidFill>
                  <a:srgbClr val="2E5AA0"/>
                </a:solidFill>
                <a:latin typeface="Calibri"/>
              </a:rPr>
              <a:t>2.  </a:t>
            </a:r>
            <a:r>
              <a:rPr sz="1700" b="0" i="0">
                <a:solidFill>
                  <a:srgbClr val="222A35"/>
                </a:solidFill>
                <a:latin typeface="Calibri"/>
              </a:rPr>
              <a:t>CRUD-слой и REST-эндпоинты на Pydantic-схемах</a:t>
            </a:r>
          </a:p>
          <a:p>
            <a:pPr>
              <a:lnSpc>
                <a:spcPct val="125000"/>
              </a:lnSpc>
              <a:spcAft>
                <a:spcPts val="400"/>
              </a:spcAft>
            </a:pPr>
            <a:r>
              <a:rPr sz="1700" b="1" i="0">
                <a:solidFill>
                  <a:srgbClr val="2E5AA0"/>
                </a:solidFill>
                <a:latin typeface="Calibri"/>
              </a:rPr>
              <a:t>3.  </a:t>
            </a:r>
            <a:r>
              <a:rPr sz="1700" b="0" i="0">
                <a:solidFill>
                  <a:srgbClr val="222A35"/>
                </a:solidFill>
                <a:latin typeface="Calibri"/>
              </a:rPr>
              <a:t>синхронизация с внешними источниками и upsert по external_id</a:t>
            </a:r>
          </a:p>
          <a:p>
            <a:pPr>
              <a:lnSpc>
                <a:spcPct val="125000"/>
              </a:lnSpc>
              <a:spcAft>
                <a:spcPts val="400"/>
              </a:spcAft>
            </a:pPr>
            <a:r>
              <a:rPr sz="1700" b="1" i="0">
                <a:solidFill>
                  <a:srgbClr val="2E5AA0"/>
                </a:solidFill>
                <a:latin typeface="Calibri"/>
              </a:rPr>
              <a:t>4.  </a:t>
            </a:r>
            <a:r>
              <a:rPr sz="1700" b="0" i="0">
                <a:solidFill>
                  <a:srgbClr val="222A35"/>
                </a:solidFill>
                <a:latin typeface="Calibri"/>
              </a:rPr>
              <a:t>фронтенд: таблица, календарь, фильтры, react-router-dom</a:t>
            </a:r>
          </a:p>
          <a:p>
            <a:pPr>
              <a:lnSpc>
                <a:spcPct val="125000"/>
              </a:lnSpc>
              <a:spcAft>
                <a:spcPts val="400"/>
              </a:spcAft>
            </a:pPr>
            <a:r>
              <a:rPr sz="1700" b="1" i="0">
                <a:solidFill>
                  <a:srgbClr val="2E5AA0"/>
                </a:solidFill>
                <a:latin typeface="Calibri"/>
              </a:rPr>
              <a:t>5.  </a:t>
            </a:r>
            <a:r>
              <a:rPr sz="1700" b="0" i="0">
                <a:solidFill>
                  <a:srgbClr val="222A35"/>
                </a:solidFill>
                <a:latin typeface="Calibri"/>
              </a:rPr>
              <a:t>мультиязычность (RU/EN/ZH/ES) и темизация интерфейса</a:t>
            </a:r>
          </a:p>
          <a:p>
            <a:pPr>
              <a:lnSpc>
                <a:spcPct val="125000"/>
              </a:lnSpc>
              <a:spcAft>
                <a:spcPts val="400"/>
              </a:spcAft>
            </a:pPr>
            <a:r>
              <a:rPr sz="1700" b="1" i="0">
                <a:solidFill>
                  <a:srgbClr val="2E5AA0"/>
                </a:solidFill>
                <a:latin typeface="Calibri"/>
              </a:rPr>
              <a:t>6.  </a:t>
            </a:r>
            <a:r>
              <a:rPr sz="1700" b="0" i="0">
                <a:solidFill>
                  <a:srgbClr val="222A35"/>
                </a:solidFill>
                <a:latin typeface="Calibri"/>
              </a:rPr>
              <a:t>интеграционная проверка сценариев API ↔ UI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92240" y="1417320"/>
            <a:ext cx="5150815" cy="4754880"/>
          </a:xfrm>
          <a:prstGeom prst="roundRect">
            <a:avLst>
              <a:gd name="adj" fmla="val 6000"/>
            </a:avLst>
          </a:prstGeom>
          <a:solidFill>
            <a:srgbClr val="EEF3FB"/>
          </a:solidFill>
          <a:ln w="9525">
            <a:solidFill>
              <a:srgbClr val="D0D6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20840" y="1554480"/>
            <a:ext cx="469361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 i="0">
                <a:solidFill>
                  <a:srgbClr val="2E5AA0"/>
                </a:solidFill>
                <a:latin typeface="Calibri"/>
              </a:rPr>
              <a:t>Ключевые решения</a:t>
            </a:r>
          </a:p>
          <a:p>
            <a:pPr>
              <a:lnSpc>
                <a:spcPct val="125000"/>
              </a:lnSpc>
              <a:spcAft>
                <a:spcPts val="400"/>
              </a:spcAft>
            </a:pPr>
            <a:r>
              <a:rPr sz="1600" b="1" i="0">
                <a:solidFill>
                  <a:srgbClr val="2E5AA0"/>
                </a:solidFill>
                <a:latin typeface="Calibri"/>
              </a:rPr>
              <a:t>•  </a:t>
            </a:r>
            <a:r>
              <a:rPr sz="1600" b="1" i="0">
                <a:solidFill>
                  <a:srgbClr val="222A35"/>
                </a:solidFill>
                <a:latin typeface="Calibri"/>
              </a:rPr>
              <a:t>Upsert по external_id</a:t>
            </a:r>
            <a:r>
              <a:rPr sz="1600" b="0" i="0">
                <a:solidFill>
                  <a:srgbClr val="222A35"/>
                </a:solidFill>
                <a:latin typeface="Calibri"/>
              </a:rPr>
              <a:t> — инкрементальная синхронизация без дублей</a:t>
            </a:r>
          </a:p>
          <a:p>
            <a:pPr>
              <a:lnSpc>
                <a:spcPct val="125000"/>
              </a:lnSpc>
              <a:spcAft>
                <a:spcPts val="400"/>
              </a:spcAft>
            </a:pPr>
            <a:r>
              <a:rPr sz="1600" b="1" i="0">
                <a:solidFill>
                  <a:srgbClr val="2E5AA0"/>
                </a:solidFill>
                <a:latin typeface="Calibri"/>
              </a:rPr>
              <a:t>•  </a:t>
            </a:r>
            <a:r>
              <a:rPr sz="1600" b="1" i="0">
                <a:solidFill>
                  <a:srgbClr val="222A35"/>
                </a:solidFill>
                <a:latin typeface="Calibri"/>
              </a:rPr>
              <a:t>Fallback JSON → HTML</a:t>
            </a:r>
            <a:r>
              <a:rPr sz="1600" b="0" i="0">
                <a:solidFill>
                  <a:srgbClr val="222A35"/>
                </a:solidFill>
                <a:latin typeface="Calibri"/>
              </a:rPr>
              <a:t> — Playwright при недоступности API</a:t>
            </a:r>
          </a:p>
          <a:p>
            <a:pPr>
              <a:lnSpc>
                <a:spcPct val="125000"/>
              </a:lnSpc>
              <a:spcAft>
                <a:spcPts val="400"/>
              </a:spcAft>
            </a:pPr>
            <a:r>
              <a:rPr sz="1600" b="1" i="0">
                <a:solidFill>
                  <a:srgbClr val="2E5AA0"/>
                </a:solidFill>
                <a:latin typeface="Calibri"/>
              </a:rPr>
              <a:t>•  </a:t>
            </a:r>
            <a:r>
              <a:rPr sz="1600" b="1" i="0">
                <a:solidFill>
                  <a:srgbClr val="222A35"/>
                </a:solidFill>
                <a:latin typeface="Calibri"/>
              </a:rPr>
              <a:t>Локальный кэш SQLite</a:t>
            </a:r>
            <a:r>
              <a:rPr sz="1600" b="0" i="0">
                <a:solidFill>
                  <a:srgbClr val="222A35"/>
                </a:solidFill>
                <a:latin typeface="Calibri"/>
              </a:rPr>
              <a:t> — работоспособность при сбоях источника</a:t>
            </a:r>
          </a:p>
          <a:p>
            <a:pPr>
              <a:lnSpc>
                <a:spcPct val="125000"/>
              </a:lnSpc>
              <a:spcAft>
                <a:spcPts val="400"/>
              </a:spcAft>
            </a:pPr>
            <a:r>
              <a:rPr sz="1600" b="1" i="0">
                <a:solidFill>
                  <a:srgbClr val="2E5AA0"/>
                </a:solidFill>
                <a:latin typeface="Calibri"/>
              </a:rPr>
              <a:t>•  </a:t>
            </a:r>
            <a:r>
              <a:rPr sz="1600" b="1" i="0">
                <a:solidFill>
                  <a:srgbClr val="222A35"/>
                </a:solidFill>
                <a:latin typeface="Calibri"/>
              </a:rPr>
              <a:t>useMemo на клиенте</a:t>
            </a:r>
            <a:r>
              <a:rPr sz="1600" b="0" i="0">
                <a:solidFill>
                  <a:srgbClr val="222A35"/>
                </a:solidFill>
                <a:latin typeface="Calibri"/>
              </a:rPr>
              <a:t> — мгновенная фильтрация без запросов к серверу</a:t>
            </a:r>
          </a:p>
          <a:p>
            <a:pPr>
              <a:lnSpc>
                <a:spcPct val="125000"/>
              </a:lnSpc>
              <a:spcAft>
                <a:spcPts val="400"/>
              </a:spcAft>
            </a:pPr>
            <a:r>
              <a:rPr sz="1600" b="1" i="0">
                <a:solidFill>
                  <a:srgbClr val="2E5AA0"/>
                </a:solidFill>
                <a:latin typeface="Calibri"/>
              </a:rPr>
              <a:t>•  </a:t>
            </a:r>
            <a:r>
              <a:rPr sz="1600" b="1" i="0">
                <a:solidFill>
                  <a:srgbClr val="222A35"/>
                </a:solidFill>
                <a:latin typeface="Calibri"/>
              </a:rPr>
              <a:t>Авто-refresh при пустой выдаче</a:t>
            </a:r>
            <a:r>
              <a:rPr sz="1600" b="0" i="0">
                <a:solidFill>
                  <a:srgbClr val="222A35"/>
                </a:solidFill>
                <a:latin typeface="Calibri"/>
              </a:rPr>
              <a:t> — повторная синхронизация при первом запуске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46520"/>
            <a:ext cx="11094415" cy="32004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r"/>
            <a:r>
              <a:rPr sz="1200" b="0" i="0">
                <a:solidFill>
                  <a:srgbClr val="555F70"/>
                </a:solidFill>
                <a:latin typeface="Calibri"/>
              </a:rPr>
              <a:t>8 / 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1F2D4E"/>
                </a:solidFill>
                <a:latin typeface="Calibri"/>
              </a:rPr>
              <a:t>Глава 3. Тестирование и результаты проверки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143000"/>
            <a:ext cx="1280160" cy="28000"/>
          </a:xfrm>
          <a:prstGeom prst="rect">
            <a:avLst/>
          </a:prstGeom>
          <a:solidFill>
            <a:srgbClr val="2E5A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94415" cy="6400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 i="1">
                <a:solidFill>
                  <a:srgbClr val="555F70"/>
                </a:solidFill>
                <a:latin typeface="Calibri"/>
              </a:rPr>
              <a:t>Тестирование выполнялось по 12 сценариям, охватывающим API, UI и устойчивость к сбоям внешних источников. Все сценарии пройдены.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2103120"/>
          <a:ext cx="11064240" cy="429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3931920"/>
                <a:gridCol w="4572000"/>
                <a:gridCol w="1554480"/>
              </a:tblGrid>
              <a:tr h="39069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Код</a:t>
                      </a:r>
                    </a:p>
                  </a:txBody>
                  <a:tcPr marL="73152" marR="73152" marT="36576" marB="36576">
                    <a:solidFill>
                      <a:srgbClr val="1F2D4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Сценарий</a:t>
                      </a:r>
                    </a:p>
                  </a:txBody>
                  <a:tcPr marL="73152" marR="73152" marT="36576" marB="36576">
                    <a:solidFill>
                      <a:srgbClr val="1F2D4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Ожидаемый результат</a:t>
                      </a:r>
                    </a:p>
                  </a:txBody>
                  <a:tcPr marL="73152" marR="73152" marT="36576" marB="36576">
                    <a:solidFill>
                      <a:srgbClr val="1F2D4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Итог</a:t>
                      </a:r>
                    </a:p>
                  </a:txBody>
                  <a:tcPr marL="73152" marR="73152" marT="36576" marB="36576">
                    <a:solidFill>
                      <a:srgbClr val="1F2D4E"/>
                    </a:solidFill>
                  </a:tcPr>
                </a:tc>
              </a:tr>
              <a:tr h="390698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222A35"/>
                          </a:solidFill>
                          <a:latin typeface="Calibri"/>
                        </a:rPr>
                        <a:t>TC-01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222A35"/>
                          </a:solidFill>
                          <a:latin typeface="Calibri"/>
                        </a:rPr>
                        <a:t>GET /health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222A35"/>
                          </a:solidFill>
                          <a:latin typeface="Calibri"/>
                        </a:rPr>
                        <a:t>HTTP 200, {"status": "ok"}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B5E20"/>
                          </a:solidFill>
                          <a:latin typeface="Calibri"/>
                        </a:rPr>
                        <a:t>Пройден</a:t>
                      </a:r>
                    </a:p>
                  </a:txBody>
                  <a:tcPr marL="73152" marR="73152" marT="36576" marB="36576">
                    <a:solidFill>
                      <a:srgbClr val="E6F4EA"/>
                    </a:solidFill>
                  </a:tcPr>
                </a:tc>
              </a:tr>
              <a:tr h="390698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222A35"/>
                          </a:solidFill>
                          <a:latin typeface="Calibri"/>
                        </a:rPr>
                        <a:t>TC-02</a:t>
                      </a:r>
                    </a:p>
                  </a:txBody>
                  <a:tcPr marL="73152" marR="73152" marT="36576" marB="36576"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222A35"/>
                          </a:solidFill>
                          <a:latin typeface="Calibri"/>
                        </a:rPr>
                        <a:t>GET /events без фильтров</a:t>
                      </a:r>
                    </a:p>
                  </a:txBody>
                  <a:tcPr marL="73152" marR="73152" marT="36576" marB="36576"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222A35"/>
                          </a:solidFill>
                          <a:latin typeface="Calibri"/>
                        </a:rPr>
                        <a:t>Список из БД, сортировка по дате</a:t>
                      </a:r>
                    </a:p>
                  </a:txBody>
                  <a:tcPr marL="73152" marR="73152" marT="36576" marB="36576"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B5E20"/>
                          </a:solidFill>
                          <a:latin typeface="Calibri"/>
                        </a:rPr>
                        <a:t>Пройден</a:t>
                      </a:r>
                    </a:p>
                  </a:txBody>
                  <a:tcPr marL="73152" marR="73152" marT="36576" marB="36576">
                    <a:solidFill>
                      <a:srgbClr val="E6F4EA"/>
                    </a:solidFill>
                  </a:tcPr>
                </a:tc>
              </a:tr>
              <a:tr h="390698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222A35"/>
                          </a:solidFill>
                          <a:latin typeface="Calibri"/>
                        </a:rPr>
                        <a:t>TC-03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222A35"/>
                          </a:solidFill>
                          <a:latin typeface="Calibri"/>
                        </a:rPr>
                        <a:t>GET /events?country=US&amp;importance=high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222A35"/>
                          </a:solidFill>
                          <a:latin typeface="Calibri"/>
                        </a:rPr>
                        <a:t>Фильтрация по стране и важности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B5E20"/>
                          </a:solidFill>
                          <a:latin typeface="Calibri"/>
                        </a:rPr>
                        <a:t>Пройден</a:t>
                      </a:r>
                    </a:p>
                  </a:txBody>
                  <a:tcPr marL="73152" marR="73152" marT="36576" marB="36576">
                    <a:solidFill>
                      <a:srgbClr val="E6F4EA"/>
                    </a:solidFill>
                  </a:tcPr>
                </a:tc>
              </a:tr>
              <a:tr h="390698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222A35"/>
                          </a:solidFill>
                          <a:latin typeface="Calibri"/>
                        </a:rPr>
                        <a:t>TC-04</a:t>
                      </a:r>
                    </a:p>
                  </a:txBody>
                  <a:tcPr marL="73152" marR="73152" marT="36576" marB="36576"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222A35"/>
                          </a:solidFill>
                          <a:latin typeface="Calibri"/>
                        </a:rPr>
                        <a:t>POST /events/refresh</a:t>
                      </a:r>
                    </a:p>
                  </a:txBody>
                  <a:tcPr marL="73152" marR="73152" marT="36576" marB="36576"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222A35"/>
                          </a:solidFill>
                          <a:latin typeface="Calibri"/>
                        </a:rPr>
                        <a:t>Принудительный upsert и обновление</a:t>
                      </a:r>
                    </a:p>
                  </a:txBody>
                  <a:tcPr marL="73152" marR="73152" marT="36576" marB="36576"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B5E20"/>
                          </a:solidFill>
                          <a:latin typeface="Calibri"/>
                        </a:rPr>
                        <a:t>Пройден</a:t>
                      </a:r>
                    </a:p>
                  </a:txBody>
                  <a:tcPr marL="73152" marR="73152" marT="36576" marB="36576">
                    <a:solidFill>
                      <a:srgbClr val="E6F4EA"/>
                    </a:solidFill>
                  </a:tcPr>
                </a:tc>
              </a:tr>
              <a:tr h="390698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222A35"/>
                          </a:solidFill>
                          <a:latin typeface="Calibri"/>
                        </a:rPr>
                        <a:t>TC-05/06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222A35"/>
                          </a:solidFill>
                          <a:latin typeface="Calibri"/>
                        </a:rPr>
                        <a:t>GET /events/{id}/description?lang=ru|en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222A35"/>
                          </a:solidFill>
                          <a:latin typeface="Calibri"/>
                        </a:rPr>
                        <a:t>Локализованное описание или fallback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B5E20"/>
                          </a:solidFill>
                          <a:latin typeface="Calibri"/>
                        </a:rPr>
                        <a:t>Пройден</a:t>
                      </a:r>
                    </a:p>
                  </a:txBody>
                  <a:tcPr marL="73152" marR="73152" marT="36576" marB="36576">
                    <a:solidFill>
                      <a:srgbClr val="E6F4EA"/>
                    </a:solidFill>
                  </a:tcPr>
                </a:tc>
              </a:tr>
              <a:tr h="390698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222A35"/>
                          </a:solidFill>
                          <a:latin typeface="Calibri"/>
                        </a:rPr>
                        <a:t>TC-07</a:t>
                      </a:r>
                    </a:p>
                  </a:txBody>
                  <a:tcPr marL="73152" marR="73152" marT="36576" marB="36576"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222A35"/>
                          </a:solidFill>
                          <a:latin typeface="Calibri"/>
                        </a:rPr>
                        <a:t>Модальное окно события</a:t>
                      </a:r>
                    </a:p>
                  </a:txBody>
                  <a:tcPr marL="73152" marR="73152" marT="36576" marB="36576"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222A35"/>
                          </a:solidFill>
                          <a:latin typeface="Calibri"/>
                        </a:rPr>
                        <a:t>Полные атрибуты события</a:t>
                      </a:r>
                    </a:p>
                  </a:txBody>
                  <a:tcPr marL="73152" marR="73152" marT="36576" marB="36576"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B5E20"/>
                          </a:solidFill>
                          <a:latin typeface="Calibri"/>
                        </a:rPr>
                        <a:t>Пройден</a:t>
                      </a:r>
                    </a:p>
                  </a:txBody>
                  <a:tcPr marL="73152" marR="73152" marT="36576" marB="36576">
                    <a:solidFill>
                      <a:srgbClr val="E6F4EA"/>
                    </a:solidFill>
                  </a:tcPr>
                </a:tc>
              </a:tr>
              <a:tr h="390698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222A35"/>
                          </a:solidFill>
                          <a:latin typeface="Calibri"/>
                        </a:rPr>
                        <a:t>TC-08/09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222A35"/>
                          </a:solidFill>
                          <a:latin typeface="Calibri"/>
                        </a:rPr>
                        <a:t>Переключение темы и языка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222A35"/>
                          </a:solidFill>
                          <a:latin typeface="Calibri"/>
                        </a:rPr>
                        <a:t>Сохранение и применение настроек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B5E20"/>
                          </a:solidFill>
                          <a:latin typeface="Calibri"/>
                        </a:rPr>
                        <a:t>Пройден</a:t>
                      </a:r>
                    </a:p>
                  </a:txBody>
                  <a:tcPr marL="73152" marR="73152" marT="36576" marB="36576">
                    <a:solidFill>
                      <a:srgbClr val="E6F4EA"/>
                    </a:solidFill>
                  </a:tcPr>
                </a:tc>
              </a:tr>
              <a:tr h="390698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222A35"/>
                          </a:solidFill>
                          <a:latin typeface="Calibri"/>
                        </a:rPr>
                        <a:t>TC-10</a:t>
                      </a:r>
                    </a:p>
                  </a:txBody>
                  <a:tcPr marL="73152" marR="73152" marT="36576" marB="36576"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222A35"/>
                          </a:solidFill>
                          <a:latin typeface="Calibri"/>
                        </a:rPr>
                        <a:t>Календарное представление</a:t>
                      </a:r>
                    </a:p>
                  </a:txBody>
                  <a:tcPr marL="73152" marR="73152" marT="36576" marB="36576"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222A35"/>
                          </a:solidFill>
                          <a:latin typeface="Calibri"/>
                        </a:rPr>
                        <a:t>Группировка по датам и сортировка</a:t>
                      </a:r>
                    </a:p>
                  </a:txBody>
                  <a:tcPr marL="73152" marR="73152" marT="36576" marB="36576"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B5E20"/>
                          </a:solidFill>
                          <a:latin typeface="Calibri"/>
                        </a:rPr>
                        <a:t>Пройден</a:t>
                      </a:r>
                    </a:p>
                  </a:txBody>
                  <a:tcPr marL="73152" marR="73152" marT="36576" marB="36576">
                    <a:solidFill>
                      <a:srgbClr val="E6F4EA"/>
                    </a:solidFill>
                  </a:tcPr>
                </a:tc>
              </a:tr>
              <a:tr h="390698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222A35"/>
                          </a:solidFill>
                          <a:latin typeface="Calibri"/>
                        </a:rPr>
                        <a:t>TC-11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222A35"/>
                          </a:solidFill>
                          <a:latin typeface="Calibri"/>
                        </a:rPr>
                        <a:t>Отказ внешнего источника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222A35"/>
                          </a:solidFill>
                          <a:latin typeface="Calibri"/>
                        </a:rPr>
                        <a:t>Работа за счёт кэша БД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B5E20"/>
                          </a:solidFill>
                          <a:latin typeface="Calibri"/>
                        </a:rPr>
                        <a:t>Пройден</a:t>
                      </a:r>
                    </a:p>
                  </a:txBody>
                  <a:tcPr marL="73152" marR="73152" marT="36576" marB="36576">
                    <a:solidFill>
                      <a:srgbClr val="E6F4EA"/>
                    </a:solidFill>
                  </a:tcPr>
                </a:tc>
              </a:tr>
              <a:tr h="39070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222A35"/>
                          </a:solidFill>
                          <a:latin typeface="Calibri"/>
                        </a:rPr>
                        <a:t>TC-12</a:t>
                      </a:r>
                    </a:p>
                  </a:txBody>
                  <a:tcPr marL="73152" marR="73152" marT="36576" marB="36576"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222A35"/>
                          </a:solidFill>
                          <a:latin typeface="Calibri"/>
                        </a:rPr>
                        <a:t>Повторная синхронизация</a:t>
                      </a:r>
                    </a:p>
                  </a:txBody>
                  <a:tcPr marL="73152" marR="73152" marT="36576" marB="36576"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222A35"/>
                          </a:solidFill>
                          <a:latin typeface="Calibri"/>
                        </a:rPr>
                        <a:t>Без дублей, обновление полей</a:t>
                      </a:r>
                    </a:p>
                  </a:txBody>
                  <a:tcPr marL="73152" marR="73152" marT="36576" marB="36576"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B5E20"/>
                          </a:solidFill>
                          <a:latin typeface="Calibri"/>
                        </a:rPr>
                        <a:t>Пройден</a:t>
                      </a:r>
                    </a:p>
                  </a:txBody>
                  <a:tcPr marL="73152" marR="73152" marT="36576" marB="36576">
                    <a:solidFill>
                      <a:srgbClr val="E6F4EA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6446520"/>
            <a:ext cx="11094415" cy="32004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r"/>
            <a:r>
              <a:rPr sz="1200" b="0" i="0">
                <a:solidFill>
                  <a:srgbClr val="555F70"/>
                </a:solidFill>
                <a:latin typeface="Calibri"/>
              </a:rPr>
              <a:t>9 / 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1F2D4E"/>
                </a:solidFill>
                <a:latin typeface="Calibri"/>
              </a:rPr>
              <a:t>Глава 3. Пользовательский интерфейс и сценарии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143000"/>
            <a:ext cx="1280160" cy="28000"/>
          </a:xfrm>
          <a:prstGeom prst="rect">
            <a:avLst/>
          </a:prstGeom>
          <a:solidFill>
            <a:srgbClr val="2E5A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417320"/>
            <a:ext cx="11094415" cy="4114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 i="0">
                <a:solidFill>
                  <a:srgbClr val="1F2D4E"/>
                </a:solidFill>
                <a:latin typeface="Calibri"/>
              </a:rPr>
              <a:t>Ключевые экраны: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874519"/>
            <a:ext cx="6035040" cy="443484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1" i="0">
                <a:solidFill>
                  <a:srgbClr val="2E5AA0"/>
                </a:solidFill>
                <a:latin typeface="Calibri"/>
              </a:rPr>
              <a:t>•  </a:t>
            </a:r>
            <a:r>
              <a:rPr sz="1500" b="1" i="0">
                <a:solidFill>
                  <a:srgbClr val="222A35"/>
                </a:solidFill>
                <a:latin typeface="Calibri"/>
              </a:rPr>
              <a:t>Главный экран «События»</a:t>
            </a:r>
            <a:r>
              <a:rPr sz="1500" b="0" i="0">
                <a:solidFill>
                  <a:srgbClr val="222A35"/>
                </a:solidFill>
                <a:latin typeface="Calibri"/>
              </a:rPr>
              <a:t> — таблица с датой, временем, валютой, страной, важностью, прогнозом и фактом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1" i="0">
                <a:solidFill>
                  <a:srgbClr val="2E5AA0"/>
                </a:solidFill>
                <a:latin typeface="Calibri"/>
              </a:rPr>
              <a:t>•  </a:t>
            </a:r>
            <a:r>
              <a:rPr sz="1500" b="1" i="0">
                <a:solidFill>
                  <a:srgbClr val="222A35"/>
                </a:solidFill>
                <a:latin typeface="Calibri"/>
              </a:rPr>
              <a:t>Карточка фильтров</a:t>
            </a:r>
            <a:r>
              <a:rPr sz="1500" b="0" i="0">
                <a:solidFill>
                  <a:srgbClr val="222A35"/>
                </a:solidFill>
                <a:latin typeface="Calibri"/>
              </a:rPr>
              <a:t> — страна, период (сегодня/завтра/неделя/дата), важность, сброс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1" i="0">
                <a:solidFill>
                  <a:srgbClr val="2E5AA0"/>
                </a:solidFill>
                <a:latin typeface="Calibri"/>
              </a:rPr>
              <a:t>•  </a:t>
            </a:r>
            <a:r>
              <a:rPr sz="1500" b="1" i="0">
                <a:solidFill>
                  <a:srgbClr val="222A35"/>
                </a:solidFill>
                <a:latin typeface="Calibri"/>
              </a:rPr>
              <a:t>Раздел «Новости»</a:t>
            </a:r>
            <a:r>
              <a:rPr sz="1500" b="0" i="0">
                <a:solidFill>
                  <a:srgbClr val="222A35"/>
                </a:solidFill>
                <a:latin typeface="Calibri"/>
              </a:rPr>
              <a:t> — лента публикаций из внешних источников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1" i="0">
                <a:solidFill>
                  <a:srgbClr val="2E5AA0"/>
                </a:solidFill>
                <a:latin typeface="Calibri"/>
              </a:rPr>
              <a:t>•  </a:t>
            </a:r>
            <a:r>
              <a:rPr sz="1500" b="1" i="0">
                <a:solidFill>
                  <a:srgbClr val="222A35"/>
                </a:solidFill>
                <a:latin typeface="Calibri"/>
              </a:rPr>
              <a:t>Модальное окно события</a:t>
            </a:r>
            <a:r>
              <a:rPr sz="1500" b="0" i="0">
                <a:solidFill>
                  <a:srgbClr val="222A35"/>
                </a:solidFill>
                <a:latin typeface="Calibri"/>
              </a:rPr>
              <a:t> — описание и сравнение фактического / прогноза / предыдущего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1" i="0">
                <a:solidFill>
                  <a:srgbClr val="2E5AA0"/>
                </a:solidFill>
                <a:latin typeface="Calibri"/>
              </a:rPr>
              <a:t>•  </a:t>
            </a:r>
            <a:r>
              <a:rPr sz="1500" b="1" i="0">
                <a:solidFill>
                  <a:srgbClr val="222A35"/>
                </a:solidFill>
                <a:latin typeface="Calibri"/>
              </a:rPr>
              <a:t>Окно чтения новости</a:t>
            </a:r>
            <a:r>
              <a:rPr sz="1500" b="0" i="0">
                <a:solidFill>
                  <a:srgbClr val="222A35"/>
                </a:solidFill>
                <a:latin typeface="Calibri"/>
              </a:rPr>
              <a:t> — переход к источнику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1" i="0">
                <a:solidFill>
                  <a:srgbClr val="2E5AA0"/>
                </a:solidFill>
                <a:latin typeface="Calibri"/>
              </a:rPr>
              <a:t>•  </a:t>
            </a:r>
            <a:r>
              <a:rPr sz="1500" b="1" i="0">
                <a:solidFill>
                  <a:srgbClr val="222A35"/>
                </a:solidFill>
                <a:latin typeface="Calibri"/>
              </a:rPr>
              <a:t>Переключатели</a:t>
            </a:r>
            <a:r>
              <a:rPr sz="1500" b="0" i="0">
                <a:solidFill>
                  <a:srgbClr val="222A35"/>
                </a:solidFill>
                <a:latin typeface="Calibri"/>
              </a:rPr>
              <a:t> — язык (RU/EN/ZH/ES) и тема оформления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417320"/>
            <a:ext cx="4876495" cy="4846320"/>
          </a:xfrm>
          <a:prstGeom prst="roundRect">
            <a:avLst>
              <a:gd name="adj" fmla="val 6000"/>
            </a:avLst>
          </a:prstGeom>
          <a:solidFill>
            <a:srgbClr val="F5F7FB"/>
          </a:solidFill>
          <a:ln w="9525">
            <a:solidFill>
              <a:srgbClr val="D0D6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95160" y="1554480"/>
            <a:ext cx="44192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 i="0">
                <a:solidFill>
                  <a:srgbClr val="2E5AA0"/>
                </a:solidFill>
                <a:latin typeface="Calibri"/>
              </a:rPr>
              <a:t>Сценарии использования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600" b="1" i="0">
                <a:solidFill>
                  <a:srgbClr val="222A35"/>
                </a:solidFill>
                <a:latin typeface="Calibri"/>
              </a:rPr>
              <a:t>1. Просмотр и фильтрация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500" b="0" i="0">
                <a:solidFill>
                  <a:srgbClr val="555F70"/>
                </a:solidFill>
                <a:latin typeface="Calibri"/>
              </a:rPr>
              <a:t>Открытие списка → автообновление → применение фильтров → мгновенная выборка.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600" b="1" i="0">
                <a:solidFill>
                  <a:srgbClr val="222A35"/>
                </a:solidFill>
                <a:latin typeface="Calibri"/>
              </a:rPr>
              <a:t>2. Анализ события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500" b="0" i="0">
                <a:solidFill>
                  <a:srgbClr val="555F70"/>
                </a:solidFill>
                <a:latin typeface="Calibri"/>
              </a:rPr>
              <a:t>Выбор события → открытие карточки → сравнение факта/прогноза/предыдущего.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600" b="1" i="0">
                <a:solidFill>
                  <a:srgbClr val="222A35"/>
                </a:solidFill>
                <a:latin typeface="Calibri"/>
              </a:rPr>
              <a:t>3. Новостной контекст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500" b="0" i="0">
                <a:solidFill>
                  <a:srgbClr val="555F70"/>
                </a:solidFill>
                <a:latin typeface="Calibri"/>
              </a:rPr>
              <a:t>Раздел «Новости» → окно чтения → переход к первоисточнику.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46520"/>
            <a:ext cx="11094415" cy="32004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r"/>
            <a:r>
              <a:rPr sz="1200" b="0" i="0">
                <a:solidFill>
                  <a:srgbClr val="555F70"/>
                </a:solidFill>
                <a:latin typeface="Calibri"/>
              </a:rPr>
              <a:t>10 / 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1F2D4E"/>
                </a:solidFill>
                <a:latin typeface="Calibri"/>
              </a:rPr>
              <a:t>Выводы и направления развития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143000"/>
            <a:ext cx="1280160" cy="28000"/>
          </a:xfrm>
          <a:prstGeom prst="rect">
            <a:avLst/>
          </a:prstGeom>
          <a:solidFill>
            <a:srgbClr val="2E5A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417320"/>
            <a:ext cx="5364327" cy="4754880"/>
          </a:xfrm>
          <a:prstGeom prst="roundRect">
            <a:avLst>
              <a:gd name="adj" fmla="val 6000"/>
            </a:avLst>
          </a:prstGeom>
          <a:solidFill>
            <a:srgbClr val="EEF3FB"/>
          </a:solidFill>
          <a:ln w="9525">
            <a:solidFill>
              <a:srgbClr val="D0D6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554480"/>
            <a:ext cx="4907127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 i="0">
                <a:solidFill>
                  <a:srgbClr val="2E5AA0"/>
                </a:solidFill>
                <a:latin typeface="Calibri"/>
              </a:rPr>
              <a:t>Достигнутые результаты</a:t>
            </a:r>
          </a:p>
          <a:p>
            <a:pPr>
              <a:lnSpc>
                <a:spcPct val="120000"/>
              </a:lnSpc>
              <a:spcAft>
                <a:spcPts val="400"/>
              </a:spcAft>
            </a:pPr>
            <a:r>
              <a:rPr sz="1600" b="1" i="0">
                <a:solidFill>
                  <a:srgbClr val="2E5AA0"/>
                </a:solidFill>
                <a:latin typeface="Calibri"/>
              </a:rPr>
              <a:t>•  </a:t>
            </a:r>
            <a:r>
              <a:rPr sz="1600" b="0" i="0">
                <a:solidFill>
                  <a:srgbClr val="222A35"/>
                </a:solidFill>
                <a:latin typeface="Calibri"/>
              </a:rPr>
              <a:t>проведён анализ предметной области и аналогов</a:t>
            </a:r>
          </a:p>
          <a:p>
            <a:pPr>
              <a:lnSpc>
                <a:spcPct val="120000"/>
              </a:lnSpc>
              <a:spcAft>
                <a:spcPts val="400"/>
              </a:spcAft>
            </a:pPr>
            <a:r>
              <a:rPr sz="1600" b="1" i="0">
                <a:solidFill>
                  <a:srgbClr val="2E5AA0"/>
                </a:solidFill>
                <a:latin typeface="Calibri"/>
              </a:rPr>
              <a:t>•  </a:t>
            </a:r>
            <a:r>
              <a:rPr sz="1600" b="0" i="0">
                <a:solidFill>
                  <a:srgbClr val="222A35"/>
                </a:solidFill>
                <a:latin typeface="Calibri"/>
              </a:rPr>
              <a:t>построены Use Case, IDEF0, DFD и функциональная схема</a:t>
            </a:r>
          </a:p>
          <a:p>
            <a:pPr>
              <a:lnSpc>
                <a:spcPct val="120000"/>
              </a:lnSpc>
              <a:spcAft>
                <a:spcPts val="400"/>
              </a:spcAft>
            </a:pPr>
            <a:r>
              <a:rPr sz="1600" b="1" i="0">
                <a:solidFill>
                  <a:srgbClr val="2E5AA0"/>
                </a:solidFill>
                <a:latin typeface="Calibri"/>
              </a:rPr>
              <a:t>•  </a:t>
            </a:r>
            <a:r>
              <a:rPr sz="1600" b="0" i="0">
                <a:solidFill>
                  <a:srgbClr val="222A35"/>
                </a:solidFill>
                <a:latin typeface="Calibri"/>
              </a:rPr>
              <a:t>сформированы функциональные и нефункциональные требования</a:t>
            </a:r>
          </a:p>
          <a:p>
            <a:pPr>
              <a:lnSpc>
                <a:spcPct val="120000"/>
              </a:lnSpc>
              <a:spcAft>
                <a:spcPts val="400"/>
              </a:spcAft>
            </a:pPr>
            <a:r>
              <a:rPr sz="1600" b="1" i="0">
                <a:solidFill>
                  <a:srgbClr val="2E5AA0"/>
                </a:solidFill>
                <a:latin typeface="Calibri"/>
              </a:rPr>
              <a:t>•  </a:t>
            </a:r>
            <a:r>
              <a:rPr sz="1600" b="0" i="0">
                <a:solidFill>
                  <a:srgbClr val="222A35"/>
                </a:solidFill>
                <a:latin typeface="Calibri"/>
              </a:rPr>
              <a:t>обоснован стек: FastAPI, SQLAlchemy 2.0, SQLite, React, Vite, Playwright</a:t>
            </a:r>
          </a:p>
          <a:p>
            <a:pPr>
              <a:lnSpc>
                <a:spcPct val="120000"/>
              </a:lnSpc>
              <a:spcAft>
                <a:spcPts val="400"/>
              </a:spcAft>
            </a:pPr>
            <a:r>
              <a:rPr sz="1600" b="1" i="0">
                <a:solidFill>
                  <a:srgbClr val="2E5AA0"/>
                </a:solidFill>
                <a:latin typeface="Calibri"/>
              </a:rPr>
              <a:t>•  </a:t>
            </a:r>
            <a:r>
              <a:rPr sz="1600" b="0" i="0">
                <a:solidFill>
                  <a:srgbClr val="222A35"/>
                </a:solidFill>
                <a:latin typeface="Calibri"/>
              </a:rPr>
              <a:t>реализованы клиент и сервер с авто-синхронизацией и кэшированием</a:t>
            </a:r>
          </a:p>
          <a:p>
            <a:pPr>
              <a:lnSpc>
                <a:spcPct val="120000"/>
              </a:lnSpc>
              <a:spcAft>
                <a:spcPts val="400"/>
              </a:spcAft>
            </a:pPr>
            <a:r>
              <a:rPr sz="1600" b="1" i="0">
                <a:solidFill>
                  <a:srgbClr val="2E5AA0"/>
                </a:solidFill>
                <a:latin typeface="Calibri"/>
              </a:rPr>
              <a:t>•  </a:t>
            </a:r>
            <a:r>
              <a:rPr sz="1600" b="0" i="0">
                <a:solidFill>
                  <a:srgbClr val="222A35"/>
                </a:solidFill>
                <a:latin typeface="Calibri"/>
              </a:rPr>
              <a:t>пройдены все 12 тестовых сценариев — цель работы достигнута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78727" y="1417320"/>
            <a:ext cx="5364327" cy="4754880"/>
          </a:xfrm>
          <a:prstGeom prst="roundRect">
            <a:avLst>
              <a:gd name="adj" fmla="val 6000"/>
            </a:avLst>
          </a:prstGeom>
          <a:solidFill>
            <a:srgbClr val="F5F7FB"/>
          </a:solidFill>
          <a:ln w="9525">
            <a:solidFill>
              <a:srgbClr val="D0D6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07327" y="1554480"/>
            <a:ext cx="4907127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 i="0">
                <a:solidFill>
                  <a:srgbClr val="2E5AA0"/>
                </a:solidFill>
                <a:latin typeface="Calibri"/>
              </a:rPr>
              <a:t>Направления развития</a:t>
            </a:r>
          </a:p>
          <a:p>
            <a:pPr>
              <a:lnSpc>
                <a:spcPct val="120000"/>
              </a:lnSpc>
              <a:spcAft>
                <a:spcPts val="400"/>
              </a:spcAft>
            </a:pPr>
            <a:r>
              <a:rPr sz="1600" b="1" i="0">
                <a:solidFill>
                  <a:srgbClr val="2E5AA0"/>
                </a:solidFill>
                <a:latin typeface="Calibri"/>
              </a:rPr>
              <a:t>•  </a:t>
            </a:r>
            <a:r>
              <a:rPr sz="1600" b="0" i="0">
                <a:solidFill>
                  <a:srgbClr val="222A35"/>
                </a:solidFill>
                <a:latin typeface="Calibri"/>
              </a:rPr>
              <a:t>ролевая модель доступа и аутентификация</a:t>
            </a:r>
          </a:p>
          <a:p>
            <a:pPr>
              <a:lnSpc>
                <a:spcPct val="120000"/>
              </a:lnSpc>
              <a:spcAft>
                <a:spcPts val="400"/>
              </a:spcAft>
            </a:pPr>
            <a:r>
              <a:rPr sz="1600" b="1" i="0">
                <a:solidFill>
                  <a:srgbClr val="2E5AA0"/>
                </a:solidFill>
                <a:latin typeface="Calibri"/>
              </a:rPr>
              <a:t>•  </a:t>
            </a:r>
            <a:r>
              <a:rPr sz="1600" b="0" i="0">
                <a:solidFill>
                  <a:srgbClr val="222A35"/>
                </a:solidFill>
                <a:latin typeface="Calibri"/>
              </a:rPr>
              <a:t>уведомления: email, Telegram, push</a:t>
            </a:r>
          </a:p>
          <a:p>
            <a:pPr>
              <a:lnSpc>
                <a:spcPct val="120000"/>
              </a:lnSpc>
              <a:spcAft>
                <a:spcPts val="400"/>
              </a:spcAft>
            </a:pPr>
            <a:r>
              <a:rPr sz="1600" b="1" i="0">
                <a:solidFill>
                  <a:srgbClr val="2E5AA0"/>
                </a:solidFill>
                <a:latin typeface="Calibri"/>
              </a:rPr>
              <a:t>•  </a:t>
            </a:r>
            <a:r>
              <a:rPr sz="1600" b="0" i="0">
                <a:solidFill>
                  <a:srgbClr val="222A35"/>
                </a:solidFill>
                <a:latin typeface="Calibri"/>
              </a:rPr>
              <a:t>расширение перечня внешних источников</a:t>
            </a:r>
          </a:p>
          <a:p>
            <a:pPr>
              <a:lnSpc>
                <a:spcPct val="120000"/>
              </a:lnSpc>
              <a:spcAft>
                <a:spcPts val="400"/>
              </a:spcAft>
            </a:pPr>
            <a:r>
              <a:rPr sz="1600" b="1" i="0">
                <a:solidFill>
                  <a:srgbClr val="2E5AA0"/>
                </a:solidFill>
                <a:latin typeface="Calibri"/>
              </a:rPr>
              <a:t>•  </a:t>
            </a:r>
            <a:r>
              <a:rPr sz="1600" b="0" i="0">
                <a:solidFill>
                  <a:srgbClr val="222A35"/>
                </a:solidFill>
                <a:latin typeface="Calibri"/>
              </a:rPr>
              <a:t>переход на PostgreSQL и Alembic-миграции</a:t>
            </a:r>
          </a:p>
          <a:p>
            <a:pPr>
              <a:lnSpc>
                <a:spcPct val="120000"/>
              </a:lnSpc>
              <a:spcAft>
                <a:spcPts val="400"/>
              </a:spcAft>
            </a:pPr>
            <a:r>
              <a:rPr sz="1600" b="1" i="0">
                <a:solidFill>
                  <a:srgbClr val="2E5AA0"/>
                </a:solidFill>
                <a:latin typeface="Calibri"/>
              </a:rPr>
              <a:t>•  </a:t>
            </a:r>
            <a:r>
              <a:rPr sz="1600" b="0" i="0">
                <a:solidFill>
                  <a:srgbClr val="222A35"/>
                </a:solidFill>
                <a:latin typeface="Calibri"/>
              </a:rPr>
              <a:t>аналитические виджеты: тренды, корреляции</a:t>
            </a:r>
          </a:p>
          <a:p>
            <a:pPr>
              <a:lnSpc>
                <a:spcPct val="120000"/>
              </a:lnSpc>
              <a:spcAft>
                <a:spcPts val="400"/>
              </a:spcAft>
            </a:pPr>
            <a:r>
              <a:rPr sz="1600" b="1" i="0">
                <a:solidFill>
                  <a:srgbClr val="2E5AA0"/>
                </a:solidFill>
                <a:latin typeface="Calibri"/>
              </a:rPr>
              <a:t>•  </a:t>
            </a:r>
            <a:r>
              <a:rPr sz="1600" b="0" i="0">
                <a:solidFill>
                  <a:srgbClr val="222A35"/>
                </a:solidFill>
                <a:latin typeface="Calibri"/>
              </a:rPr>
              <a:t>автотесты (unit, integration, e2e) и CI-конвейер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46520"/>
            <a:ext cx="11094415" cy="32004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r"/>
            <a:r>
              <a:rPr sz="1200" b="0" i="0">
                <a:solidFill>
                  <a:srgbClr val="555F70"/>
                </a:solidFill>
                <a:latin typeface="Calibri"/>
              </a:rPr>
              <a:t>11 / 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871655" y="0"/>
            <a:ext cx="320040" cy="6858000"/>
          </a:xfrm>
          <a:prstGeom prst="rect">
            <a:avLst/>
          </a:prstGeom>
          <a:solidFill>
            <a:srgbClr val="2E5A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377440"/>
            <a:ext cx="1054577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 i="0">
                <a:solidFill>
                  <a:srgbClr val="1F2D4E"/>
                </a:solidFill>
                <a:latin typeface="Calibri"/>
              </a:rPr>
              <a:t>Спасибо за внимание!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749039"/>
            <a:ext cx="1054577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600" b="0" i="1">
                <a:solidFill>
                  <a:srgbClr val="555F70"/>
                </a:solidFill>
                <a:latin typeface="Calibri"/>
              </a:rPr>
              <a:t>Готов(а) ответить на ваши вопросы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943600"/>
            <a:ext cx="1054577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0" i="0">
                <a:solidFill>
                  <a:srgbClr val="555F70"/>
                </a:solidFill>
                <a:latin typeface="Calibri"/>
              </a:rPr>
              <a:t>Курсовая работа • Экономический календарь •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